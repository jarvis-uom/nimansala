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8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15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warmly: kithul treacle is a famous Sri Lankan sweetener, but a lot of what is sold is secretly mixed with sugar. Our project builds a cheap, fast way for anyone to check if it is real. Three of us each build one testing method.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Kithul treacle is prized and now UNESCO-listed. But adding sugar is common. The hard part: the only real test today is a lab test, which normal people cannot use. That is the gap we fill.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groups are harmed: buyers, honest tappers, the export trade, and people who picked kithul for health reasons. This is why a cheap, trustworthy test is worth building.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sentence the whole project answers. Pause here so the panel takes it 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sides. Kithul research is all lab-based. Honey, which has the exact same sugar problem, is already solved with cheap sensors and cameras. That contrast points straight at our opportunity.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this is open: testing is lab-only, cheap AI has never been tried on kithul, and no dataset exists. Building that dataset is itself part of our contribution.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three cheap sensing methods, each run by one member, all tested on the same samples, then fused into one decision. We finish by testing on real market treacle and checking against a lab.</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nothing exists, building the labelled dataset is a real contribution. The key is knowing which samples are truly pure, so a food lab confirms them. Mixing levels go from 0 to 50 percent so the model learns to estimate amounts, not just yes/no.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owns a full pipeline: their own capture setup, their own data, their own model. All three test the same samples, so the results can be fairly compared and then combined. The next three slides go one per member.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turns a normal phone into a tester. The light box and fixed routine matter more than the model — most errors come from changing light or temperature, not weak AI.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builds hardware. The research question is whether a cheap device can give lab-like answers. If yes, small sellers can check quality themselves.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adds the thermal method and, importantly, builds the fusion model that combines all three. The explainability part builds trust, which exporters and certifiers need.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not just one accuracy number, but a practical recommendation of the cheapest good-enough test for each kind of user, plus a reusable dataset. Mention the two future-work ideas to show the bigger picture.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questions. Likely one: “How do you get pure samples?” Answer: buy direct from trusted tappers and have a food lab confirm purity before we use them.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EFE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433070"/>
          </a:xfrm>
          <a:prstGeom prst="rect">
            <a:avLst/>
          </a:prstGeom>
          <a:noFill/>
          <a:ln/>
        </p:spPr>
        <p:txBody>
          <a:bodyPr wrap="square" lIns="0" tIns="0" rIns="0" bIns="0" rtlCol="0" anchor="t"/>
          <a:lstStyle>
            <a:lvl1pPr marL="0" indent="0" algn="l">
              <a:lnSpc>
                <a:spcPct val="115000"/>
              </a:lnSpc>
              <a:buNone/>
              <a:defRPr lang="en-US" sz="3100" dirty="0">
                <a:solidFill>
                  <a:srgbClr val="3A2412"/>
                </a:solidFill>
                <a:latin typeface="Georgia" pitchFamily="34" charset="0"/>
                <a:ea typeface="Georgia" pitchFamily="34" charset="-122"/>
                <a:cs typeface="Georgia" pitchFamily="34" charset="-120"/>
              </a:defRPr>
            </a:lvl1pPr>
          </a:lstStyle>
          <a:p>
            <a:pPr marL="0" indent="0" algn="l">
              <a:lnSpc>
                <a:spcPct val="115000"/>
              </a:lnSpc>
              <a:buNone/>
            </a:pPr>
            <a:endParaRPr lang="en-US" sz="3100" dirty="0"/>
          </a:p>
        </p:txBody>
      </p:sp>
      <p:sp>
        <p:nvSpPr>
          <p:cNvPr id="3" name="Text Placeholder 2"/>
          <p:cNvSpPr>
            <a:spLocks noGrp="1"/>
          </p:cNvSpPr>
          <p:nvPr>
            <p:ph type="body" idx="101"/>
          </p:nvPr>
        </p:nvSpPr>
        <p:spPr>
          <a:xfrm>
            <a:off x="812800" y="1840231"/>
            <a:ext cx="10566400" cy="4204969"/>
          </a:xfrm>
          <a:prstGeom prst="rect">
            <a:avLst/>
          </a:prstGeom>
          <a:noFill/>
          <a:ln/>
        </p:spPr>
        <p:txBody>
          <a:bodyPr wrap="square" lIns="0" tIns="0" rIns="0" bIns="0" rtlCol="0" anchor="t"/>
          <a:lstStyle>
            <a:lvl1pPr marL="0" indent="0" algn="l">
              <a:lnSpc>
                <a:spcPct val="140000"/>
              </a:lnSpc>
              <a:buNone/>
              <a:defRPr lang="en-US" sz="1600" dirty="0">
                <a:solidFill>
                  <a:srgbClr val="3A2412"/>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EFE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433070"/>
          </a:xfrm>
          <a:prstGeom prst="rect">
            <a:avLst/>
          </a:prstGeom>
          <a:noFill/>
          <a:ln/>
        </p:spPr>
        <p:txBody>
          <a:bodyPr wrap="square" lIns="0" tIns="0" rIns="0" bIns="0" rtlCol="0" anchor="t"/>
          <a:lstStyle>
            <a:lvl1pPr marL="0" indent="0" algn="l">
              <a:lnSpc>
                <a:spcPct val="115000"/>
              </a:lnSpc>
              <a:buNone/>
              <a:defRPr lang="en-US" sz="3100" dirty="0">
                <a:solidFill>
                  <a:srgbClr val="3A2412"/>
                </a:solidFill>
                <a:latin typeface="Georgia" pitchFamily="34" charset="0"/>
                <a:ea typeface="Georgia" pitchFamily="34" charset="-122"/>
                <a:cs typeface="Georgia" pitchFamily="34" charset="-120"/>
              </a:defRPr>
            </a:lvl1pPr>
          </a:lstStyle>
          <a:p>
            <a:pPr marL="0" indent="0" algn="l">
              <a:lnSpc>
                <a:spcPct val="115000"/>
              </a:lnSpc>
              <a:buNone/>
            </a:pPr>
            <a:endParaRPr lang="en-US" sz="3100" dirty="0"/>
          </a:p>
        </p:txBody>
      </p:sp>
      <p:sp>
        <p:nvSpPr>
          <p:cNvPr id="3" name="Text Placeholder 2"/>
          <p:cNvSpPr>
            <a:spLocks noGrp="1"/>
          </p:cNvSpPr>
          <p:nvPr>
            <p:ph type="body" idx="101"/>
          </p:nvPr>
        </p:nvSpPr>
        <p:spPr>
          <a:xfrm>
            <a:off x="812800" y="1840231"/>
            <a:ext cx="10566400" cy="4204969"/>
          </a:xfrm>
          <a:prstGeom prst="rect">
            <a:avLst/>
          </a:prstGeom>
          <a:noFill/>
          <a:ln/>
        </p:spPr>
        <p:txBody>
          <a:bodyPr wrap="square" lIns="0" tIns="0" rIns="0" bIns="0" rtlCol="0" anchor="t"/>
          <a:lstStyle>
            <a:lvl1pPr marL="0" indent="0" algn="l">
              <a:lnSpc>
                <a:spcPct val="140000"/>
              </a:lnSpc>
              <a:buNone/>
              <a:defRPr lang="en-US" sz="1600" dirty="0">
                <a:solidFill>
                  <a:srgbClr val="3A2412"/>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A0C"/>
        </a:solidFill>
        <a:effectLst/>
      </p:bgPr>
    </p:bg>
    <p:spTree>
      <p:nvGrpSpPr>
        <p:cNvPr id="1" name=""/>
        <p:cNvGrpSpPr/>
        <p:nvPr/>
      </p:nvGrpSpPr>
      <p:grpSpPr>
        <a:xfrm>
          <a:off x="0" y="0"/>
          <a:ext cx="0" cy="0"/>
          <a:chOff x="0" y="0"/>
          <a:chExt cx="0" cy="0"/>
        </a:xfrm>
      </p:grpSpPr>
      <p:pic>
        <p:nvPicPr>
          <p:cNvPr id="2" name="Image 0" descr="Jar of amber treacle with a slow drip"/>
          <p:cNvPicPr>
            <a:picLocks noChangeAspect="1"/>
          </p:cNvPicPr>
          <p:nvPr/>
        </p:nvPicPr>
        <p:blipFill>
          <a:blip r:embed="rId3"/>
          <a:srcRect l="-9" r="-9"/>
          <a:stretch/>
        </p:blipFill>
        <p:spPr>
          <a:xfrm>
            <a:off x="7493000" y="0"/>
            <a:ext cx="4699000" cy="6858000"/>
          </a:xfrm>
          <a:prstGeom prst="rect">
            <a:avLst/>
          </a:prstGeom>
        </p:spPr>
      </p:pic>
      <p:sp>
        <p:nvSpPr>
          <p:cNvPr id="3" name="Text 0"/>
          <p:cNvSpPr/>
          <p:nvPr/>
        </p:nvSpPr>
        <p:spPr>
          <a:xfrm>
            <a:off x="812800" y="1545590"/>
            <a:ext cx="5886450"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E0A64B"/>
                </a:solidFill>
                <a:latin typeface="Arial" pitchFamily="34" charset="0"/>
                <a:ea typeface="Arial" pitchFamily="34" charset="-122"/>
                <a:cs typeface="Arial" pitchFamily="34" charset="-120"/>
              </a:rPr>
              <a:t>FINAL-YEAR RESEARCH PROPOSAL</a:t>
            </a:r>
            <a:endParaRPr lang="en-US" sz="1200" dirty="0"/>
          </a:p>
        </p:txBody>
      </p:sp>
      <p:sp>
        <p:nvSpPr>
          <p:cNvPr id="4" name="Text 1"/>
          <p:cNvSpPr>
            <a:spLocks noGrp="1"/>
          </p:cNvSpPr>
          <p:nvPr>
            <p:ph type="title"/>
          </p:nvPr>
        </p:nvSpPr>
        <p:spPr>
          <a:xfrm>
            <a:off x="812800" y="1974850"/>
            <a:ext cx="6278880" cy="1320800"/>
          </a:xfrm>
          <a:prstGeom prst="rect">
            <a:avLst/>
          </a:prstGeom>
          <a:noFill/>
          <a:ln/>
        </p:spPr>
        <p:txBody>
          <a:bodyPr wrap="square" lIns="0" tIns="0" rIns="0" bIns="0" rtlCol="0" anchor="t">
            <a:normAutofit/>
          </a:bodyPr>
          <a:lstStyle/>
          <a:p>
            <a:pPr marL="0" indent="0" algn="l">
              <a:lnSpc>
                <a:spcPts val="5100"/>
              </a:lnSpc>
              <a:buNone/>
            </a:pPr>
            <a:r>
              <a:rPr lang="en-US" sz="5000" b="1" i="0" dirty="0">
                <a:solidFill>
                  <a:srgbClr val="F6EFE1"/>
                </a:solidFill>
                <a:latin typeface="Georgia" pitchFamily="18" charset="0"/>
                <a:ea typeface="Georgia" pitchFamily="18" charset="-122"/>
                <a:cs typeface="Georgia" pitchFamily="18" charset="-120"/>
              </a:rPr>
              <a:t>Is this kithul treacle real?</a:t>
            </a:r>
            <a:endParaRPr lang="en-US" sz="5000" dirty="0"/>
          </a:p>
        </p:txBody>
      </p:sp>
      <p:sp>
        <p:nvSpPr>
          <p:cNvPr id="5" name="Text 2"/>
          <p:cNvSpPr/>
          <p:nvPr/>
        </p:nvSpPr>
        <p:spPr>
          <a:xfrm>
            <a:off x="812800" y="3486150"/>
            <a:ext cx="5886450" cy="93218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D9C6A8"/>
                </a:solidFill>
                <a:latin typeface="Arial" pitchFamily="34" charset="0"/>
                <a:ea typeface="Arial" pitchFamily="34" charset="-122"/>
                <a:cs typeface="Arial" pitchFamily="34" charset="-120"/>
              </a:rPr>
              <a:t>A low-cost AI system to detect sugar in Sri Lankan kithul treacle  using a phone camera, a cheap sensor and a thermal camera.</a:t>
            </a:r>
            <a:endParaRPr lang="en-US" sz="1700" dirty="0"/>
          </a:p>
        </p:txBody>
      </p:sp>
      <p:sp>
        <p:nvSpPr>
          <p:cNvPr id="6" name="Shape 3"/>
          <p:cNvSpPr/>
          <p:nvPr/>
        </p:nvSpPr>
        <p:spPr>
          <a:xfrm>
            <a:off x="812800" y="4608830"/>
            <a:ext cx="762000" cy="25400"/>
          </a:xfrm>
          <a:prstGeom prst="rect">
            <a:avLst/>
          </a:prstGeom>
          <a:solidFill>
            <a:srgbClr val="E0A64B"/>
          </a:solidFill>
          <a:ln/>
        </p:spPr>
        <p:txBody>
          <a:bodyPr/>
          <a:lstStyle/>
          <a:p>
            <a:endParaRPr lang="en-US"/>
          </a:p>
        </p:txBody>
      </p:sp>
      <p:sp>
        <p:nvSpPr>
          <p:cNvPr id="7" name="Text 4"/>
          <p:cNvSpPr/>
          <p:nvPr/>
        </p:nvSpPr>
        <p:spPr>
          <a:xfrm>
            <a:off x="812800" y="4850130"/>
            <a:ext cx="6017260" cy="48768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EF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A16"/>
                </a:solidFill>
                <a:latin typeface="Arial" pitchFamily="34" charset="0"/>
                <a:ea typeface="Arial" pitchFamily="34" charset="-122"/>
                <a:cs typeface="Arial" pitchFamily="34" charset="-120"/>
              </a:rPr>
              <a:t>THE PROBLEM</a:t>
            </a:r>
            <a:endParaRPr lang="en-US" sz="1200" dirty="0"/>
          </a:p>
        </p:txBody>
      </p:sp>
      <p:sp>
        <p:nvSpPr>
          <p:cNvPr id="3" name="Text 1"/>
          <p:cNvSpPr>
            <a:spLocks noGrp="1"/>
          </p:cNvSpPr>
          <p:nvPr>
            <p:ph type="title"/>
          </p:nvPr>
        </p:nvSpPr>
        <p:spPr>
          <a:xfrm>
            <a:off x="812800" y="1102360"/>
            <a:ext cx="10883392" cy="458470"/>
          </a:xfrm>
          <a:prstGeom prst="rect">
            <a:avLst/>
          </a:prstGeom>
          <a:noFill/>
          <a:ln/>
        </p:spPr>
        <p:txBody>
          <a:bodyPr wrap="square" lIns="0" tIns="0" rIns="0" bIns="0" rtlCol="0" anchor="t">
            <a:normAutofit/>
          </a:bodyPr>
          <a:lstStyle/>
          <a:p>
            <a:pPr marL="0" indent="0" algn="l">
              <a:lnSpc>
                <a:spcPts val="3410"/>
              </a:lnSpc>
              <a:buNone/>
            </a:pPr>
            <a:r>
              <a:rPr lang="en-US" sz="3100" b="1" i="0" dirty="0">
                <a:solidFill>
                  <a:srgbClr val="3A2412"/>
                </a:solidFill>
                <a:latin typeface="Georgia" pitchFamily="18" charset="0"/>
                <a:ea typeface="Georgia" pitchFamily="18" charset="-122"/>
                <a:cs typeface="Georgia" pitchFamily="18" charset="-120"/>
              </a:rPr>
              <a:t>A world-heritage sweetener, often faked</a:t>
            </a:r>
            <a:endParaRPr lang="en-US" sz="3100" dirty="0"/>
          </a:p>
        </p:txBody>
      </p:sp>
      <p:sp>
        <p:nvSpPr>
          <p:cNvPr id="4" name="Text 2"/>
          <p:cNvSpPr/>
          <p:nvPr/>
        </p:nvSpPr>
        <p:spPr>
          <a:xfrm>
            <a:off x="812800" y="1814830"/>
            <a:ext cx="5363210"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3420"/>
                </a:solidFill>
                <a:latin typeface="Arial" pitchFamily="34" charset="0"/>
                <a:ea typeface="Arial" pitchFamily="34" charset="-122"/>
                <a:cs typeface="Arial" pitchFamily="34" charset="-120"/>
              </a:rPr>
              <a:t>Kithul treacle (</a:t>
            </a:r>
            <a:r>
              <a:rPr lang="en-US" sz="1500" i="1" dirty="0">
                <a:solidFill>
                  <a:srgbClr val="4A3420"/>
                </a:solidFill>
                <a:latin typeface="Arial" pitchFamily="34" charset="0"/>
                <a:ea typeface="Arial" pitchFamily="34" charset="-122"/>
                <a:cs typeface="Arial" pitchFamily="34" charset="-120"/>
              </a:rPr>
              <a:t>kithul pani</a:t>
            </a:r>
            <a:r>
              <a:rPr lang="en-US" sz="1500" dirty="0">
                <a:solidFill>
                  <a:srgbClr val="4A3420"/>
                </a:solidFill>
                <a:latin typeface="Arial" pitchFamily="34" charset="0"/>
                <a:ea typeface="Arial" pitchFamily="34" charset="-122"/>
                <a:cs typeface="Arial" pitchFamily="34" charset="-120"/>
              </a:rPr>
              <a:t>) is made from the sap of the kithul palm. In December 2025, UNESCO named kithul tapping part of the world’s cultural heritage.</a:t>
            </a:r>
            <a:endParaRPr lang="en-US" sz="1500" dirty="0"/>
          </a:p>
        </p:txBody>
      </p:sp>
      <p:sp>
        <p:nvSpPr>
          <p:cNvPr id="5" name="Shape 3"/>
          <p:cNvSpPr/>
          <p:nvPr/>
        </p:nvSpPr>
        <p:spPr>
          <a:xfrm>
            <a:off x="812800" y="2821305"/>
            <a:ext cx="5207000" cy="844550"/>
          </a:xfrm>
          <a:prstGeom prst="roundRect">
            <a:avLst>
              <a:gd name="adj" fmla="val 10526"/>
            </a:avLst>
          </a:prstGeom>
          <a:solidFill>
            <a:srgbClr val="FBE0DA"/>
          </a:solidFill>
          <a:ln/>
        </p:spPr>
        <p:txBody>
          <a:bodyPr/>
          <a:lstStyle/>
          <a:p>
            <a:endParaRPr lang="en-US"/>
          </a:p>
        </p:txBody>
      </p:sp>
      <p:sp>
        <p:nvSpPr>
          <p:cNvPr id="6" name="Shape 4"/>
          <p:cNvSpPr/>
          <p:nvPr/>
        </p:nvSpPr>
        <p:spPr>
          <a:xfrm>
            <a:off x="812800" y="2821305"/>
            <a:ext cx="5207000" cy="844550"/>
          </a:xfrm>
          <a:custGeom>
            <a:avLst/>
            <a:gdLst/>
            <a:ahLst/>
            <a:cxnLst/>
            <a:rect l="l" t="t" r="r" b="b"/>
            <a:pathLst>
              <a:path w="5207000" h="844550">
                <a:moveTo>
                  <a:pt x="88900" y="844550"/>
                </a:moveTo>
                <a:lnTo>
                  <a:pt x="88900" y="844550"/>
                </a:lnTo>
                <a:arcTo wR="88900" hR="88900" stAng="5400000" swAng="5400000"/>
                <a:lnTo>
                  <a:pt x="0" y="88900"/>
                </a:lnTo>
                <a:arcTo wR="88900" hR="88900" stAng="10800000" swAng="5400000"/>
                <a:lnTo>
                  <a:pt x="88900" y="0"/>
                </a:lnTo>
                <a:arcTo wR="50800" hR="88900" stAng="16200000" swAng="-5400000"/>
                <a:lnTo>
                  <a:pt x="38100" y="755650"/>
                </a:lnTo>
                <a:arcTo wR="50800" hR="88900" stAng="10800000" swAng="-5400000"/>
                <a:close/>
              </a:path>
            </a:pathLst>
          </a:custGeom>
          <a:solidFill>
            <a:srgbClr val="B0392E"/>
          </a:solidFill>
          <a:ln/>
        </p:spPr>
        <p:txBody>
          <a:bodyPr/>
          <a:lstStyle/>
          <a:p>
            <a:endParaRPr lang="en-US"/>
          </a:p>
        </p:txBody>
      </p:sp>
      <p:pic>
        <p:nvPicPr>
          <p:cNvPr id="7" name="Image 0" descr="Warning"/>
          <p:cNvPicPr>
            <a:picLocks noChangeAspect="1"/>
          </p:cNvPicPr>
          <p:nvPr/>
        </p:nvPicPr>
        <p:blipFill>
          <a:blip r:embed="rId3"/>
          <a:srcRect/>
          <a:stretch/>
        </p:blipFill>
        <p:spPr>
          <a:xfrm>
            <a:off x="1038860" y="3091180"/>
            <a:ext cx="304800" cy="304800"/>
          </a:xfrm>
          <a:prstGeom prst="rect">
            <a:avLst/>
          </a:prstGeom>
        </p:spPr>
      </p:pic>
      <p:sp>
        <p:nvSpPr>
          <p:cNvPr id="8" name="Text 5"/>
          <p:cNvSpPr/>
          <p:nvPr/>
        </p:nvSpPr>
        <p:spPr>
          <a:xfrm>
            <a:off x="1470660" y="2986405"/>
            <a:ext cx="4489399"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3A2412"/>
                </a:solidFill>
                <a:latin typeface="Arial" pitchFamily="34" charset="0"/>
                <a:ea typeface="Arial" pitchFamily="34" charset="-122"/>
                <a:cs typeface="Arial" pitchFamily="34" charset="-120"/>
              </a:rPr>
              <a:t>Many sellers mix cheap sugar syrup into the treacle and sell it as pure.</a:t>
            </a:r>
            <a:endParaRPr lang="en-US" sz="1500" dirty="0"/>
          </a:p>
        </p:txBody>
      </p:sp>
      <p:sp>
        <p:nvSpPr>
          <p:cNvPr id="9" name="Text 6"/>
          <p:cNvSpPr/>
          <p:nvPr/>
        </p:nvSpPr>
        <p:spPr>
          <a:xfrm>
            <a:off x="812800" y="3843655"/>
            <a:ext cx="536321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A3420"/>
                </a:solidFill>
                <a:latin typeface="Arial" pitchFamily="34" charset="0"/>
                <a:ea typeface="Arial" pitchFamily="34" charset="-122"/>
                <a:cs typeface="Arial" pitchFamily="34" charset="-120"/>
              </a:rPr>
              <a:t>Today the only reliable check is a slow, costly lab test. Ordinary buyers, shops and small sellers simply cannot do it.</a:t>
            </a:r>
            <a:endParaRPr lang="en-US" sz="1500" dirty="0"/>
          </a:p>
        </p:txBody>
      </p:sp>
      <p:sp>
        <p:nvSpPr>
          <p:cNvPr id="10" name="Shape 7"/>
          <p:cNvSpPr/>
          <p:nvPr/>
        </p:nvSpPr>
        <p:spPr>
          <a:xfrm>
            <a:off x="6378575" y="1852295"/>
            <a:ext cx="4997450" cy="884555"/>
          </a:xfrm>
          <a:prstGeom prst="roundRect">
            <a:avLst>
              <a:gd name="adj" fmla="val 12563"/>
            </a:avLst>
          </a:prstGeom>
          <a:solidFill>
            <a:srgbClr val="EAF0E4"/>
          </a:solidFill>
          <a:ln w="6350">
            <a:solidFill>
              <a:srgbClr val="CBD9BC"/>
            </a:solidFill>
            <a:prstDash val="solid"/>
          </a:ln>
        </p:spPr>
        <p:txBody>
          <a:bodyPr/>
          <a:lstStyle/>
          <a:p>
            <a:endParaRPr lang="en-US"/>
          </a:p>
        </p:txBody>
      </p:sp>
      <p:sp>
        <p:nvSpPr>
          <p:cNvPr id="11" name="Text 8"/>
          <p:cNvSpPr/>
          <p:nvPr/>
        </p:nvSpPr>
        <p:spPr>
          <a:xfrm>
            <a:off x="6570980" y="2044700"/>
            <a:ext cx="4751019"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4E7A4A"/>
                </a:solidFill>
                <a:latin typeface="Arial" pitchFamily="34" charset="0"/>
                <a:ea typeface="Arial" pitchFamily="34" charset="-122"/>
                <a:cs typeface="Arial" pitchFamily="34" charset="-120"/>
              </a:rPr>
              <a:t>PURE</a:t>
            </a:r>
            <a:endParaRPr lang="en-US" sz="1200" dirty="0"/>
          </a:p>
        </p:txBody>
      </p:sp>
      <p:sp>
        <p:nvSpPr>
          <p:cNvPr id="12" name="Text 9"/>
          <p:cNvSpPr/>
          <p:nvPr/>
        </p:nvSpPr>
        <p:spPr>
          <a:xfrm>
            <a:off x="6570980" y="2321560"/>
            <a:ext cx="4751019"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2412"/>
                </a:solidFill>
                <a:latin typeface="Arial" pitchFamily="34" charset="0"/>
                <a:ea typeface="Arial" pitchFamily="34" charset="-122"/>
                <a:cs typeface="Arial" pitchFamily="34" charset="-120"/>
              </a:rPr>
              <a:t>Natural kithul sap, boiled down. Rich taste, higher price.</a:t>
            </a:r>
            <a:endParaRPr lang="en-US" sz="1300" dirty="0"/>
          </a:p>
        </p:txBody>
      </p:sp>
      <p:pic>
        <p:nvPicPr>
          <p:cNvPr id="13" name="Image 1" descr="arrow-down"/>
          <p:cNvPicPr>
            <a:picLocks noChangeAspect="1"/>
          </p:cNvPicPr>
          <p:nvPr/>
        </p:nvPicPr>
        <p:blipFill>
          <a:blip r:embed="rId4"/>
          <a:srcRect/>
          <a:stretch/>
        </p:blipFill>
        <p:spPr>
          <a:xfrm>
            <a:off x="8782050" y="2867025"/>
            <a:ext cx="190500" cy="254000"/>
          </a:xfrm>
          <a:prstGeom prst="rect">
            <a:avLst/>
          </a:prstGeom>
        </p:spPr>
      </p:pic>
      <p:sp>
        <p:nvSpPr>
          <p:cNvPr id="14" name="Shape 10"/>
          <p:cNvSpPr/>
          <p:nvPr/>
        </p:nvSpPr>
        <p:spPr>
          <a:xfrm>
            <a:off x="6378575" y="3251200"/>
            <a:ext cx="4997450" cy="1107440"/>
          </a:xfrm>
          <a:prstGeom prst="roundRect">
            <a:avLst>
              <a:gd name="adj" fmla="val 10034"/>
            </a:avLst>
          </a:prstGeom>
          <a:solidFill>
            <a:srgbClr val="FBEAD6"/>
          </a:solidFill>
          <a:ln w="6350">
            <a:solidFill>
              <a:srgbClr val="E4C79A"/>
            </a:solidFill>
            <a:prstDash val="solid"/>
          </a:ln>
        </p:spPr>
        <p:txBody>
          <a:bodyPr/>
          <a:lstStyle/>
          <a:p>
            <a:endParaRPr lang="en-US"/>
          </a:p>
        </p:txBody>
      </p:sp>
      <p:sp>
        <p:nvSpPr>
          <p:cNvPr id="15" name="Text 11"/>
          <p:cNvSpPr/>
          <p:nvPr/>
        </p:nvSpPr>
        <p:spPr>
          <a:xfrm>
            <a:off x="6570980" y="3443605"/>
            <a:ext cx="4751019"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0392E"/>
                </a:solidFill>
                <a:latin typeface="Arial" pitchFamily="34" charset="0"/>
                <a:ea typeface="Arial" pitchFamily="34" charset="-122"/>
                <a:cs typeface="Arial" pitchFamily="34" charset="-120"/>
              </a:rPr>
              <a:t>MIXED</a:t>
            </a:r>
            <a:endParaRPr lang="en-US" sz="1200" dirty="0"/>
          </a:p>
        </p:txBody>
      </p:sp>
      <p:sp>
        <p:nvSpPr>
          <p:cNvPr id="16" name="Text 12"/>
          <p:cNvSpPr/>
          <p:nvPr/>
        </p:nvSpPr>
        <p:spPr>
          <a:xfrm>
            <a:off x="6570980" y="3720465"/>
            <a:ext cx="4751019"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2412"/>
                </a:solidFill>
                <a:latin typeface="Arial" pitchFamily="34" charset="0"/>
                <a:ea typeface="Arial" pitchFamily="34" charset="-122"/>
                <a:cs typeface="Arial" pitchFamily="34" charset="-120"/>
              </a:rPr>
              <a:t>Add cheap sugar syrup. Looks similar, costs less, sold as “pure”.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EF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A16"/>
                </a:solidFill>
                <a:latin typeface="Arial" pitchFamily="34" charset="0"/>
                <a:ea typeface="Arial" pitchFamily="34" charset="-122"/>
                <a:cs typeface="Arial" pitchFamily="34" charset="-120"/>
              </a:rPr>
              <a:t>WHY IT MATTERS</a:t>
            </a:r>
            <a:endParaRPr lang="en-US" sz="1200" dirty="0"/>
          </a:p>
        </p:txBody>
      </p:sp>
      <p:sp>
        <p:nvSpPr>
          <p:cNvPr id="3" name="Text 1"/>
          <p:cNvSpPr>
            <a:spLocks noGrp="1"/>
          </p:cNvSpPr>
          <p:nvPr>
            <p:ph type="title"/>
          </p:nvPr>
        </p:nvSpPr>
        <p:spPr>
          <a:xfrm>
            <a:off x="812800" y="1102361"/>
            <a:ext cx="10883392" cy="458470"/>
          </a:xfrm>
          <a:prstGeom prst="rect">
            <a:avLst/>
          </a:prstGeom>
          <a:noFill/>
          <a:ln/>
        </p:spPr>
        <p:txBody>
          <a:bodyPr wrap="square" lIns="0" tIns="0" rIns="0" bIns="0" rtlCol="0" anchor="t">
            <a:normAutofit/>
          </a:bodyPr>
          <a:lstStyle/>
          <a:p>
            <a:pPr marL="0" indent="0" algn="l">
              <a:lnSpc>
                <a:spcPts val="3410"/>
              </a:lnSpc>
              <a:buNone/>
            </a:pPr>
            <a:r>
              <a:rPr lang="en-US" sz="3100" b="1" i="0" dirty="0">
                <a:solidFill>
                  <a:srgbClr val="3A2412"/>
                </a:solidFill>
                <a:latin typeface="Georgia" pitchFamily="18" charset="0"/>
                <a:ea typeface="Georgia" pitchFamily="18" charset="-122"/>
                <a:cs typeface="Georgia" pitchFamily="18" charset="-120"/>
              </a:rPr>
              <a:t>Who the fakes hurt</a:t>
            </a:r>
            <a:endParaRPr lang="en-US" sz="3100" dirty="0"/>
          </a:p>
        </p:txBody>
      </p:sp>
      <p:sp>
        <p:nvSpPr>
          <p:cNvPr id="4" name="Shape 2"/>
          <p:cNvSpPr/>
          <p:nvPr/>
        </p:nvSpPr>
        <p:spPr>
          <a:xfrm>
            <a:off x="815975" y="1843405"/>
            <a:ext cx="5187950" cy="976630"/>
          </a:xfrm>
          <a:prstGeom prst="roundRect">
            <a:avLst>
              <a:gd name="adj" fmla="val 12679"/>
            </a:avLst>
          </a:prstGeom>
          <a:solidFill>
            <a:srgbClr val="FCF7EC"/>
          </a:solidFill>
          <a:ln w="6350">
            <a:solidFill>
              <a:srgbClr val="E4D6BC"/>
            </a:solidFill>
            <a:prstDash val="solid"/>
          </a:ln>
        </p:spPr>
        <p:txBody>
          <a:bodyPr/>
          <a:lstStyle/>
          <a:p>
            <a:endParaRPr lang="en-US"/>
          </a:p>
        </p:txBody>
      </p:sp>
      <p:pic>
        <p:nvPicPr>
          <p:cNvPr id="5" name="Image 0" descr="Users"/>
          <p:cNvPicPr>
            <a:picLocks noChangeAspect="1"/>
          </p:cNvPicPr>
          <p:nvPr/>
        </p:nvPicPr>
        <p:blipFill>
          <a:blip r:embed="rId3"/>
          <a:srcRect/>
          <a:stretch/>
        </p:blipFill>
        <p:spPr>
          <a:xfrm>
            <a:off x="1033780" y="2061211"/>
            <a:ext cx="330200" cy="330200"/>
          </a:xfrm>
          <a:prstGeom prst="rect">
            <a:avLst/>
          </a:prstGeom>
        </p:spPr>
      </p:pic>
      <p:sp>
        <p:nvSpPr>
          <p:cNvPr id="6" name="Text 3"/>
          <p:cNvSpPr/>
          <p:nvPr/>
        </p:nvSpPr>
        <p:spPr>
          <a:xfrm>
            <a:off x="1516380" y="2061211"/>
            <a:ext cx="43978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3A2412"/>
                </a:solidFill>
                <a:latin typeface="Georgia" pitchFamily="18" charset="0"/>
                <a:ea typeface="Georgia" pitchFamily="18" charset="-122"/>
                <a:cs typeface="Georgia" pitchFamily="18" charset="-120"/>
              </a:rPr>
              <a:t>Buyers</a:t>
            </a:r>
            <a:endParaRPr lang="en-US" sz="1700" dirty="0"/>
          </a:p>
        </p:txBody>
      </p:sp>
      <p:sp>
        <p:nvSpPr>
          <p:cNvPr id="7" name="Text 4"/>
          <p:cNvSpPr/>
          <p:nvPr/>
        </p:nvSpPr>
        <p:spPr>
          <a:xfrm>
            <a:off x="1516380" y="2371091"/>
            <a:ext cx="439783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420"/>
                </a:solidFill>
                <a:latin typeface="Arial" pitchFamily="34" charset="0"/>
                <a:ea typeface="Arial" pitchFamily="34" charset="-122"/>
                <a:cs typeface="Arial" pitchFamily="34" charset="-120"/>
              </a:rPr>
              <a:t>Pay a high price but often get a mostly-sugar product.</a:t>
            </a:r>
            <a:endParaRPr lang="en-US" sz="1300" dirty="0"/>
          </a:p>
        </p:txBody>
      </p:sp>
      <p:sp>
        <p:nvSpPr>
          <p:cNvPr id="8" name="Shape 5"/>
          <p:cNvSpPr/>
          <p:nvPr/>
        </p:nvSpPr>
        <p:spPr>
          <a:xfrm>
            <a:off x="6188075" y="1843405"/>
            <a:ext cx="5187950" cy="976630"/>
          </a:xfrm>
          <a:prstGeom prst="roundRect">
            <a:avLst>
              <a:gd name="adj" fmla="val 12679"/>
            </a:avLst>
          </a:prstGeom>
          <a:solidFill>
            <a:srgbClr val="FCF7EC"/>
          </a:solidFill>
          <a:ln w="6350">
            <a:solidFill>
              <a:srgbClr val="E4D6BC"/>
            </a:solidFill>
            <a:prstDash val="solid"/>
          </a:ln>
        </p:spPr>
        <p:txBody>
          <a:bodyPr/>
          <a:lstStyle/>
          <a:p>
            <a:endParaRPr lang="en-US"/>
          </a:p>
        </p:txBody>
      </p:sp>
      <p:pic>
        <p:nvPicPr>
          <p:cNvPr id="9" name="Image 1" descr="Home"/>
          <p:cNvPicPr>
            <a:picLocks noChangeAspect="1"/>
          </p:cNvPicPr>
          <p:nvPr/>
        </p:nvPicPr>
        <p:blipFill>
          <a:blip r:embed="rId4"/>
          <a:srcRect/>
          <a:stretch/>
        </p:blipFill>
        <p:spPr>
          <a:xfrm>
            <a:off x="6405880" y="2061211"/>
            <a:ext cx="330200" cy="330200"/>
          </a:xfrm>
          <a:prstGeom prst="rect">
            <a:avLst/>
          </a:prstGeom>
        </p:spPr>
      </p:pic>
      <p:sp>
        <p:nvSpPr>
          <p:cNvPr id="10" name="Text 6"/>
          <p:cNvSpPr/>
          <p:nvPr/>
        </p:nvSpPr>
        <p:spPr>
          <a:xfrm>
            <a:off x="6888480" y="2061211"/>
            <a:ext cx="43978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3A2412"/>
                </a:solidFill>
                <a:latin typeface="Georgia" pitchFamily="18" charset="0"/>
                <a:ea typeface="Georgia" pitchFamily="18" charset="-122"/>
                <a:cs typeface="Georgia" pitchFamily="18" charset="-120"/>
              </a:rPr>
              <a:t>Honest tappers</a:t>
            </a:r>
            <a:endParaRPr lang="en-US" sz="1700" dirty="0"/>
          </a:p>
        </p:txBody>
      </p:sp>
      <p:sp>
        <p:nvSpPr>
          <p:cNvPr id="11" name="Text 7"/>
          <p:cNvSpPr/>
          <p:nvPr/>
        </p:nvSpPr>
        <p:spPr>
          <a:xfrm>
            <a:off x="6888480" y="2371091"/>
            <a:ext cx="439783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420"/>
                </a:solidFill>
                <a:latin typeface="Arial" pitchFamily="34" charset="0"/>
                <a:ea typeface="Arial" pitchFamily="34" charset="-122"/>
                <a:cs typeface="Arial" pitchFamily="34" charset="-120"/>
              </a:rPr>
              <a:t>Lose income because faked treacle is cheaper to make.</a:t>
            </a:r>
            <a:endParaRPr lang="en-US" sz="1300" dirty="0"/>
          </a:p>
        </p:txBody>
      </p:sp>
      <p:sp>
        <p:nvSpPr>
          <p:cNvPr id="12" name="Shape 8"/>
          <p:cNvSpPr/>
          <p:nvPr/>
        </p:nvSpPr>
        <p:spPr>
          <a:xfrm>
            <a:off x="815975" y="3004186"/>
            <a:ext cx="5187950" cy="1207770"/>
          </a:xfrm>
          <a:prstGeom prst="roundRect">
            <a:avLst>
              <a:gd name="adj" fmla="val 10252"/>
            </a:avLst>
          </a:prstGeom>
          <a:solidFill>
            <a:srgbClr val="FCF7EC"/>
          </a:solidFill>
          <a:ln w="6350">
            <a:solidFill>
              <a:srgbClr val="E4D6BC"/>
            </a:solidFill>
            <a:prstDash val="solid"/>
          </a:ln>
        </p:spPr>
        <p:txBody>
          <a:bodyPr/>
          <a:lstStyle/>
          <a:p>
            <a:endParaRPr lang="en-US"/>
          </a:p>
        </p:txBody>
      </p:sp>
      <p:pic>
        <p:nvPicPr>
          <p:cNvPr id="13" name="Image 2" descr="Globe"/>
          <p:cNvPicPr>
            <a:picLocks noChangeAspect="1"/>
          </p:cNvPicPr>
          <p:nvPr/>
        </p:nvPicPr>
        <p:blipFill>
          <a:blip r:embed="rId5"/>
          <a:srcRect/>
          <a:stretch/>
        </p:blipFill>
        <p:spPr>
          <a:xfrm>
            <a:off x="1033780" y="3221991"/>
            <a:ext cx="330200" cy="330200"/>
          </a:xfrm>
          <a:prstGeom prst="rect">
            <a:avLst/>
          </a:prstGeom>
        </p:spPr>
      </p:pic>
      <p:sp>
        <p:nvSpPr>
          <p:cNvPr id="14" name="Text 9"/>
          <p:cNvSpPr/>
          <p:nvPr/>
        </p:nvSpPr>
        <p:spPr>
          <a:xfrm>
            <a:off x="1516380" y="3221991"/>
            <a:ext cx="43978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3A2412"/>
                </a:solidFill>
                <a:latin typeface="Georgia" pitchFamily="18" charset="0"/>
                <a:ea typeface="Georgia" pitchFamily="18" charset="-122"/>
                <a:cs typeface="Georgia" pitchFamily="18" charset="-120"/>
              </a:rPr>
              <a:t>Exports</a:t>
            </a:r>
            <a:endParaRPr lang="en-US" sz="1700" dirty="0"/>
          </a:p>
        </p:txBody>
      </p:sp>
      <p:sp>
        <p:nvSpPr>
          <p:cNvPr id="15" name="Text 10"/>
          <p:cNvSpPr/>
          <p:nvPr/>
        </p:nvSpPr>
        <p:spPr>
          <a:xfrm>
            <a:off x="1516380" y="3531870"/>
            <a:ext cx="439783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420"/>
                </a:solidFill>
                <a:latin typeface="Arial" pitchFamily="34" charset="0"/>
                <a:ea typeface="Arial" pitchFamily="34" charset="-122"/>
                <a:cs typeface="Arial" pitchFamily="34" charset="-120"/>
              </a:rPr>
              <a:t>Foreign buyers lose trust, so exports stay small.</a:t>
            </a:r>
            <a:endParaRPr lang="en-US" sz="1300" dirty="0"/>
          </a:p>
        </p:txBody>
      </p:sp>
      <p:sp>
        <p:nvSpPr>
          <p:cNvPr id="16" name="Shape 11"/>
          <p:cNvSpPr/>
          <p:nvPr/>
        </p:nvSpPr>
        <p:spPr>
          <a:xfrm>
            <a:off x="6188075" y="3004186"/>
            <a:ext cx="5187950" cy="1207770"/>
          </a:xfrm>
          <a:prstGeom prst="roundRect">
            <a:avLst>
              <a:gd name="adj" fmla="val 10252"/>
            </a:avLst>
          </a:prstGeom>
          <a:solidFill>
            <a:srgbClr val="FCF7EC"/>
          </a:solidFill>
          <a:ln w="6350">
            <a:solidFill>
              <a:srgbClr val="E4D6BC"/>
            </a:solidFill>
            <a:prstDash val="solid"/>
          </a:ln>
        </p:spPr>
        <p:txBody>
          <a:bodyPr/>
          <a:lstStyle/>
          <a:p>
            <a:endParaRPr lang="en-US"/>
          </a:p>
        </p:txBody>
      </p:sp>
      <p:pic>
        <p:nvPicPr>
          <p:cNvPr id="17" name="Image 3" descr="ThumbsUp"/>
          <p:cNvPicPr>
            <a:picLocks noChangeAspect="1"/>
          </p:cNvPicPr>
          <p:nvPr/>
        </p:nvPicPr>
        <p:blipFill>
          <a:blip r:embed="rId6"/>
          <a:srcRect/>
          <a:stretch/>
        </p:blipFill>
        <p:spPr>
          <a:xfrm>
            <a:off x="6405880" y="3221991"/>
            <a:ext cx="330200" cy="330200"/>
          </a:xfrm>
          <a:prstGeom prst="rect">
            <a:avLst/>
          </a:prstGeom>
        </p:spPr>
      </p:pic>
      <p:sp>
        <p:nvSpPr>
          <p:cNvPr id="18" name="Text 12"/>
          <p:cNvSpPr/>
          <p:nvPr/>
        </p:nvSpPr>
        <p:spPr>
          <a:xfrm>
            <a:off x="6888480" y="3221991"/>
            <a:ext cx="43978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3A2412"/>
                </a:solidFill>
                <a:latin typeface="Georgia" pitchFamily="18" charset="0"/>
                <a:ea typeface="Georgia" pitchFamily="18" charset="-122"/>
                <a:cs typeface="Georgia" pitchFamily="18" charset="-120"/>
              </a:rPr>
              <a:t>Health</a:t>
            </a:r>
            <a:endParaRPr lang="en-US" sz="1700" dirty="0"/>
          </a:p>
        </p:txBody>
      </p:sp>
      <p:sp>
        <p:nvSpPr>
          <p:cNvPr id="19" name="Text 13"/>
          <p:cNvSpPr/>
          <p:nvPr/>
        </p:nvSpPr>
        <p:spPr>
          <a:xfrm>
            <a:off x="6888480" y="3531870"/>
            <a:ext cx="439783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420"/>
                </a:solidFill>
                <a:latin typeface="Arial" pitchFamily="34" charset="0"/>
                <a:ea typeface="Arial" pitchFamily="34" charset="-122"/>
                <a:cs typeface="Arial" pitchFamily="34" charset="-120"/>
              </a:rPr>
              <a:t>People who choose kithul to be healthier may eat mostly sugar.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5731A"/>
        </a:solidFill>
        <a:effectLst/>
      </p:bgPr>
    </p:bg>
    <p:spTree>
      <p:nvGrpSpPr>
        <p:cNvPr id="1" name=""/>
        <p:cNvGrpSpPr/>
        <p:nvPr/>
      </p:nvGrpSpPr>
      <p:grpSpPr>
        <a:xfrm>
          <a:off x="0" y="0"/>
          <a:ext cx="0" cy="0"/>
          <a:chOff x="0" y="0"/>
          <a:chExt cx="0" cy="0"/>
        </a:xfrm>
      </p:grpSpPr>
      <p:sp>
        <p:nvSpPr>
          <p:cNvPr id="2" name="Text 0"/>
          <p:cNvSpPr/>
          <p:nvPr/>
        </p:nvSpPr>
        <p:spPr>
          <a:xfrm>
            <a:off x="812800" y="231775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A1A0C"/>
                </a:solidFill>
                <a:latin typeface="Arial" pitchFamily="34" charset="0"/>
                <a:ea typeface="Arial" pitchFamily="34" charset="-122"/>
                <a:cs typeface="Arial" pitchFamily="34" charset="-120"/>
              </a:rPr>
              <a:t>PROBLEM STATEMENT</a:t>
            </a:r>
            <a:endParaRPr lang="en-US" sz="1200" dirty="0"/>
          </a:p>
        </p:txBody>
      </p:sp>
      <p:sp>
        <p:nvSpPr>
          <p:cNvPr id="3" name="Text 1"/>
          <p:cNvSpPr/>
          <p:nvPr/>
        </p:nvSpPr>
        <p:spPr>
          <a:xfrm>
            <a:off x="812800" y="2785111"/>
            <a:ext cx="10203180" cy="1488440"/>
          </a:xfrm>
          <a:prstGeom prst="rect">
            <a:avLst/>
          </a:prstGeom>
          <a:noFill/>
          <a:ln/>
        </p:spPr>
        <p:txBody>
          <a:bodyPr wrap="square" lIns="0" tIns="0" rIns="0" bIns="0" rtlCol="0" anchor="t">
            <a:normAutofit/>
          </a:bodyPr>
          <a:lstStyle/>
          <a:p>
            <a:pPr marL="0" indent="0" algn="l">
              <a:lnSpc>
                <a:spcPts val="3840"/>
              </a:lnSpc>
              <a:buNone/>
            </a:pPr>
            <a:r>
              <a:rPr lang="en-US" sz="3200" dirty="0">
                <a:solidFill>
                  <a:srgbClr val="2A1A0C"/>
                </a:solidFill>
                <a:latin typeface="Georgia" pitchFamily="18" charset="0"/>
                <a:ea typeface="Georgia" pitchFamily="18" charset="-122"/>
                <a:cs typeface="Georgia" pitchFamily="18" charset="-120"/>
              </a:rPr>
              <a:t>There is no fast, low-cost, AI-based way to detect and measure sugar in kithul treacle  and no dataset to build one.</a:t>
            </a:r>
            <a:endParaRPr lang="en-US" sz="3200" dirty="0"/>
          </a:p>
        </p:txBody>
      </p:sp>
      <p:sp>
        <p:nvSpPr>
          <p:cNvPr id="4" name="Shape 2"/>
          <p:cNvSpPr/>
          <p:nvPr/>
        </p:nvSpPr>
        <p:spPr>
          <a:xfrm>
            <a:off x="812800" y="4502150"/>
            <a:ext cx="1016000" cy="38100"/>
          </a:xfrm>
          <a:prstGeom prst="rect">
            <a:avLst/>
          </a:prstGeom>
          <a:solidFill>
            <a:srgbClr val="2A1A0C"/>
          </a:solidFill>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EF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A16"/>
                </a:solidFill>
                <a:latin typeface="Arial" pitchFamily="34" charset="0"/>
                <a:ea typeface="Arial" pitchFamily="34" charset="-122"/>
                <a:cs typeface="Arial" pitchFamily="34" charset="-120"/>
              </a:rPr>
              <a:t>EXISTING RESEARCH</a:t>
            </a:r>
            <a:endParaRPr lang="en-US" sz="1200" dirty="0"/>
          </a:p>
        </p:txBody>
      </p:sp>
      <p:sp>
        <p:nvSpPr>
          <p:cNvPr id="3" name="Text 1"/>
          <p:cNvSpPr>
            <a:spLocks noGrp="1"/>
          </p:cNvSpPr>
          <p:nvPr>
            <p:ph type="title"/>
          </p:nvPr>
        </p:nvSpPr>
        <p:spPr>
          <a:xfrm>
            <a:off x="812800" y="1102361"/>
            <a:ext cx="10883392" cy="458470"/>
          </a:xfrm>
          <a:prstGeom prst="rect">
            <a:avLst/>
          </a:prstGeom>
          <a:noFill/>
          <a:ln/>
        </p:spPr>
        <p:txBody>
          <a:bodyPr wrap="square" lIns="0" tIns="0" rIns="0" bIns="0" rtlCol="0" anchor="t">
            <a:normAutofit/>
          </a:bodyPr>
          <a:lstStyle/>
          <a:p>
            <a:pPr marL="0" indent="0" algn="l">
              <a:lnSpc>
                <a:spcPts val="3410"/>
              </a:lnSpc>
              <a:buNone/>
            </a:pPr>
            <a:r>
              <a:rPr lang="en-US" sz="3100" b="1" i="0" dirty="0">
                <a:solidFill>
                  <a:srgbClr val="3A2412"/>
                </a:solidFill>
                <a:latin typeface="Georgia" pitchFamily="18" charset="0"/>
                <a:ea typeface="Georgia" pitchFamily="18" charset="-122"/>
                <a:cs typeface="Georgia" pitchFamily="18" charset="-120"/>
              </a:rPr>
              <a:t>What others have done</a:t>
            </a:r>
            <a:endParaRPr lang="en-US" sz="3100" dirty="0"/>
          </a:p>
        </p:txBody>
      </p:sp>
      <p:sp>
        <p:nvSpPr>
          <p:cNvPr id="4" name="Text 2"/>
          <p:cNvSpPr/>
          <p:nvPr/>
        </p:nvSpPr>
        <p:spPr>
          <a:xfrm>
            <a:off x="812800" y="1789432"/>
            <a:ext cx="5310886" cy="256540"/>
          </a:xfrm>
          <a:prstGeom prst="rect">
            <a:avLst/>
          </a:prstGeom>
          <a:noFill/>
          <a:ln/>
        </p:spPr>
        <p:txBody>
          <a:bodyPr wrap="square" lIns="0" tIns="0" rIns="0" bIns="0" rtlCol="0" anchor="t">
            <a:normAutofit/>
          </a:bodyPr>
          <a:lstStyle/>
          <a:p>
            <a:pPr marL="0" indent="0" algn="l">
              <a:lnSpc>
                <a:spcPts val="1820"/>
              </a:lnSpc>
              <a:buNone/>
            </a:pPr>
            <a:r>
              <a:rPr lang="en-US" sz="1300" b="1" kern="0" spc="50" dirty="0">
                <a:solidFill>
                  <a:srgbClr val="8A4A12"/>
                </a:solidFill>
                <a:latin typeface="Arial" pitchFamily="34" charset="0"/>
                <a:ea typeface="Arial" pitchFamily="34" charset="-122"/>
                <a:cs typeface="Arial" pitchFamily="34" charset="-120"/>
              </a:rPr>
              <a:t>ON KITHUL  lab methods only</a:t>
            </a:r>
            <a:endParaRPr lang="en-US" sz="1300" dirty="0"/>
          </a:p>
        </p:txBody>
      </p:sp>
      <p:sp>
        <p:nvSpPr>
          <p:cNvPr id="5" name="Text 3"/>
          <p:cNvSpPr/>
          <p:nvPr/>
        </p:nvSpPr>
        <p:spPr>
          <a:xfrm>
            <a:off x="815975" y="2138046"/>
            <a:ext cx="5149850" cy="711835"/>
          </a:xfrm>
          <a:prstGeom prst="roundRect">
            <a:avLst>
              <a:gd name="adj" fmla="val 12043"/>
            </a:avLst>
          </a:prstGeom>
          <a:solidFill>
            <a:srgbClr val="FCF7EC"/>
          </a:solidFill>
          <a:ln w="6350">
            <a:solidFill>
              <a:srgbClr val="E4D6BC"/>
            </a:solidFill>
            <a:prstDash val="solid"/>
          </a:ln>
        </p:spPr>
        <p:txBody>
          <a:bodyPr wrap="square" lIns="141897" tIns="116497" rIns="0" bIns="91097" rtlCol="0" anchor="t">
            <a:normAutofit/>
          </a:bodyPr>
          <a:lstStyle/>
          <a:p>
            <a:pPr marL="0" indent="0" algn="l">
              <a:lnSpc>
                <a:spcPts val="1688"/>
              </a:lnSpc>
              <a:buNone/>
            </a:pPr>
            <a:r>
              <a:rPr lang="en-US" sz="1250" b="1" dirty="0">
                <a:solidFill>
                  <a:srgbClr val="3A2412"/>
                </a:solidFill>
                <a:latin typeface="Arial" pitchFamily="34" charset="0"/>
                <a:ea typeface="Arial" pitchFamily="34" charset="-122"/>
                <a:cs typeface="Arial" pitchFamily="34" charset="-120"/>
              </a:rPr>
              <a:t>Seneviratne &amp; Dissanayake (2016)</a:t>
            </a:r>
            <a:r>
              <a:rPr lang="en-US" sz="1250" dirty="0">
                <a:solidFill>
                  <a:srgbClr val="3A2412"/>
                </a:solidFill>
                <a:latin typeface="Arial" pitchFamily="34" charset="0"/>
                <a:ea typeface="Arial" pitchFamily="34" charset="-122"/>
                <a:cs typeface="Arial" pitchFamily="34" charset="-120"/>
              </a:rPr>
              <a:t>  surveyed 304 tappers; sugar is added mostly when sap is poor or watery.</a:t>
            </a:r>
            <a:endParaRPr lang="en-US" sz="1250" dirty="0"/>
          </a:p>
        </p:txBody>
      </p:sp>
      <p:sp>
        <p:nvSpPr>
          <p:cNvPr id="6" name="Text 4"/>
          <p:cNvSpPr/>
          <p:nvPr/>
        </p:nvSpPr>
        <p:spPr>
          <a:xfrm>
            <a:off x="815975" y="2970532"/>
            <a:ext cx="5149850" cy="711835"/>
          </a:xfrm>
          <a:prstGeom prst="roundRect">
            <a:avLst>
              <a:gd name="adj" fmla="val 12043"/>
            </a:avLst>
          </a:prstGeom>
          <a:solidFill>
            <a:srgbClr val="FCF7EC"/>
          </a:solidFill>
          <a:ln w="6350">
            <a:solidFill>
              <a:srgbClr val="E4D6BC"/>
            </a:solidFill>
            <a:prstDash val="solid"/>
          </a:ln>
        </p:spPr>
        <p:txBody>
          <a:bodyPr wrap="square" lIns="141897" tIns="116497" rIns="0" bIns="91097" rtlCol="0" anchor="t">
            <a:normAutofit/>
          </a:bodyPr>
          <a:lstStyle/>
          <a:p>
            <a:pPr marL="0" indent="0" algn="l">
              <a:lnSpc>
                <a:spcPts val="1688"/>
              </a:lnSpc>
              <a:buNone/>
            </a:pPr>
            <a:r>
              <a:rPr lang="en-US" sz="1250" b="1" dirty="0">
                <a:solidFill>
                  <a:srgbClr val="3A2412"/>
                </a:solidFill>
                <a:latin typeface="Arial" pitchFamily="34" charset="0"/>
                <a:ea typeface="Arial" pitchFamily="34" charset="-122"/>
                <a:cs typeface="Arial" pitchFamily="34" charset="-120"/>
              </a:rPr>
              <a:t>Somasiri (2015)</a:t>
            </a:r>
            <a:r>
              <a:rPr lang="en-US" sz="1250" dirty="0">
                <a:solidFill>
                  <a:srgbClr val="3A2412"/>
                </a:solidFill>
                <a:latin typeface="Arial" pitchFamily="34" charset="0"/>
                <a:ea typeface="Arial" pitchFamily="34" charset="-122"/>
                <a:cs typeface="Arial" pitchFamily="34" charset="-120"/>
              </a:rPr>
              <a:t>  lab chemistry (HPLC, GC-MS) and a chemical test kit for cane sugar.</a:t>
            </a:r>
            <a:endParaRPr lang="en-US" sz="1250" dirty="0"/>
          </a:p>
        </p:txBody>
      </p:sp>
      <p:sp>
        <p:nvSpPr>
          <p:cNvPr id="7" name="Text 5"/>
          <p:cNvSpPr/>
          <p:nvPr/>
        </p:nvSpPr>
        <p:spPr>
          <a:xfrm>
            <a:off x="815975" y="3803014"/>
            <a:ext cx="5149850" cy="711835"/>
          </a:xfrm>
          <a:prstGeom prst="roundRect">
            <a:avLst>
              <a:gd name="adj" fmla="val 12043"/>
            </a:avLst>
          </a:prstGeom>
          <a:solidFill>
            <a:srgbClr val="FCF7EC"/>
          </a:solidFill>
          <a:ln w="6350">
            <a:solidFill>
              <a:srgbClr val="E4D6BC"/>
            </a:solidFill>
            <a:prstDash val="solid"/>
          </a:ln>
        </p:spPr>
        <p:txBody>
          <a:bodyPr wrap="square" lIns="141897" tIns="116497" rIns="0" bIns="91097" rtlCol="0" anchor="t">
            <a:normAutofit/>
          </a:bodyPr>
          <a:lstStyle/>
          <a:p>
            <a:pPr marL="0" indent="0" algn="l">
              <a:lnSpc>
                <a:spcPts val="1688"/>
              </a:lnSpc>
              <a:buNone/>
            </a:pPr>
            <a:r>
              <a:rPr lang="en-US" sz="1250" b="1" dirty="0">
                <a:solidFill>
                  <a:srgbClr val="3A2412"/>
                </a:solidFill>
                <a:latin typeface="Arial" pitchFamily="34" charset="0"/>
                <a:ea typeface="Arial" pitchFamily="34" charset="-122"/>
                <a:cs typeface="Arial" pitchFamily="34" charset="-120"/>
              </a:rPr>
              <a:t>Wijesinghe &amp; Rathnayake (2021)</a:t>
            </a:r>
            <a:r>
              <a:rPr lang="en-US" sz="1250" dirty="0">
                <a:solidFill>
                  <a:srgbClr val="3A2412"/>
                </a:solidFill>
                <a:latin typeface="Arial" pitchFamily="34" charset="0"/>
                <a:ea typeface="Arial" pitchFamily="34" charset="-122"/>
                <a:cs typeface="Arial" pitchFamily="34" charset="-120"/>
              </a:rPr>
              <a:t>  pure vs 5–25% sugar differ in Brix, pH and conductivity. No proper test method yet.</a:t>
            </a:r>
            <a:endParaRPr lang="en-US" sz="1250" dirty="0"/>
          </a:p>
        </p:txBody>
      </p:sp>
      <p:sp>
        <p:nvSpPr>
          <p:cNvPr id="8" name="Text 6"/>
          <p:cNvSpPr/>
          <p:nvPr/>
        </p:nvSpPr>
        <p:spPr>
          <a:xfrm>
            <a:off x="6223000" y="1789432"/>
            <a:ext cx="5310886" cy="256540"/>
          </a:xfrm>
          <a:prstGeom prst="rect">
            <a:avLst/>
          </a:prstGeom>
          <a:noFill/>
          <a:ln/>
        </p:spPr>
        <p:txBody>
          <a:bodyPr wrap="square" lIns="0" tIns="0" rIns="0" bIns="0" rtlCol="0" anchor="t">
            <a:normAutofit/>
          </a:bodyPr>
          <a:lstStyle/>
          <a:p>
            <a:pPr marL="0" indent="0" algn="l">
              <a:lnSpc>
                <a:spcPts val="1820"/>
              </a:lnSpc>
              <a:buNone/>
            </a:pPr>
            <a:r>
              <a:rPr lang="en-US" sz="1300" b="1" kern="0" spc="50" dirty="0">
                <a:solidFill>
                  <a:srgbClr val="4E7A4A"/>
                </a:solidFill>
                <a:latin typeface="Arial" pitchFamily="34" charset="0"/>
                <a:ea typeface="Arial" pitchFamily="34" charset="-122"/>
                <a:cs typeface="Arial" pitchFamily="34" charset="-120"/>
              </a:rPr>
              <a:t>ON HONEY  cheap AI already works</a:t>
            </a:r>
            <a:endParaRPr lang="en-US" sz="1300" dirty="0"/>
          </a:p>
        </p:txBody>
      </p:sp>
      <p:sp>
        <p:nvSpPr>
          <p:cNvPr id="9" name="Text 7"/>
          <p:cNvSpPr/>
          <p:nvPr/>
        </p:nvSpPr>
        <p:spPr>
          <a:xfrm>
            <a:off x="6226175" y="2138046"/>
            <a:ext cx="5149850" cy="711835"/>
          </a:xfrm>
          <a:prstGeom prst="roundRect">
            <a:avLst>
              <a:gd name="adj" fmla="val 12043"/>
            </a:avLst>
          </a:prstGeom>
          <a:solidFill>
            <a:srgbClr val="EAF0E4"/>
          </a:solidFill>
          <a:ln w="6350">
            <a:solidFill>
              <a:srgbClr val="CBD9BC"/>
            </a:solidFill>
            <a:prstDash val="solid"/>
          </a:ln>
        </p:spPr>
        <p:txBody>
          <a:bodyPr wrap="square" lIns="141897" tIns="116497" rIns="0" bIns="91097" rtlCol="0" anchor="t">
            <a:normAutofit/>
          </a:bodyPr>
          <a:lstStyle/>
          <a:p>
            <a:pPr marL="0" indent="0" algn="l">
              <a:lnSpc>
                <a:spcPts val="1688"/>
              </a:lnSpc>
              <a:buNone/>
            </a:pPr>
            <a:r>
              <a:rPr lang="en-US" sz="1250" b="1" dirty="0">
                <a:solidFill>
                  <a:srgbClr val="3A2412"/>
                </a:solidFill>
                <a:latin typeface="Arial" pitchFamily="34" charset="0"/>
                <a:ea typeface="Arial" pitchFamily="34" charset="-122"/>
                <a:cs typeface="Arial" pitchFamily="34" charset="-120"/>
              </a:rPr>
              <a:t>Cheap light sensor + ML</a:t>
            </a:r>
            <a:r>
              <a:rPr lang="en-US" sz="1250" dirty="0">
                <a:solidFill>
                  <a:srgbClr val="3A2412"/>
                </a:solidFill>
                <a:latin typeface="Arial" pitchFamily="34" charset="0"/>
                <a:ea typeface="Arial" pitchFamily="34" charset="-122"/>
                <a:cs typeface="Arial" pitchFamily="34" charset="-120"/>
              </a:rPr>
              <a:t> detected sugar syrup in honey with </a:t>
            </a:r>
            <a:r>
              <a:rPr lang="en-US" sz="1250" b="1" dirty="0">
                <a:solidFill>
                  <a:srgbClr val="3A2412"/>
                </a:solidFill>
                <a:latin typeface="Arial" pitchFamily="34" charset="0"/>
                <a:ea typeface="Arial" pitchFamily="34" charset="-122"/>
                <a:cs typeface="Arial" pitchFamily="34" charset="-120"/>
              </a:rPr>
              <a:t>91-98%</a:t>
            </a:r>
            <a:r>
              <a:rPr lang="en-US" sz="1250" dirty="0">
                <a:solidFill>
                  <a:srgbClr val="3A2412"/>
                </a:solidFill>
                <a:latin typeface="Arial" pitchFamily="34" charset="0"/>
                <a:ea typeface="Arial" pitchFamily="34" charset="-122"/>
                <a:cs typeface="Arial" pitchFamily="34" charset="-120"/>
              </a:rPr>
              <a:t> accuracy.</a:t>
            </a:r>
            <a:endParaRPr lang="en-US" sz="1250" dirty="0"/>
          </a:p>
        </p:txBody>
      </p:sp>
      <p:sp>
        <p:nvSpPr>
          <p:cNvPr id="10" name="Text 8"/>
          <p:cNvSpPr/>
          <p:nvPr/>
        </p:nvSpPr>
        <p:spPr>
          <a:xfrm>
            <a:off x="6226175" y="2970532"/>
            <a:ext cx="5149850" cy="711835"/>
          </a:xfrm>
          <a:prstGeom prst="roundRect">
            <a:avLst>
              <a:gd name="adj" fmla="val 12043"/>
            </a:avLst>
          </a:prstGeom>
          <a:solidFill>
            <a:srgbClr val="EAF0E4"/>
          </a:solidFill>
          <a:ln w="6350">
            <a:solidFill>
              <a:srgbClr val="CBD9BC"/>
            </a:solidFill>
            <a:prstDash val="solid"/>
          </a:ln>
        </p:spPr>
        <p:txBody>
          <a:bodyPr wrap="square" lIns="141897" tIns="116497" rIns="0" bIns="91097" rtlCol="0" anchor="t">
            <a:normAutofit/>
          </a:bodyPr>
          <a:lstStyle/>
          <a:p>
            <a:pPr marL="0" indent="0" algn="l">
              <a:lnSpc>
                <a:spcPts val="1688"/>
              </a:lnSpc>
              <a:buNone/>
            </a:pPr>
            <a:r>
              <a:rPr lang="en-US" sz="1250" b="1" dirty="0">
                <a:solidFill>
                  <a:srgbClr val="3A2412"/>
                </a:solidFill>
                <a:latin typeface="Arial" pitchFamily="34" charset="0"/>
                <a:ea typeface="Arial" pitchFamily="34" charset="-122"/>
                <a:cs typeface="Arial" pitchFamily="34" charset="-120"/>
              </a:rPr>
              <a:t>Thermal camera + deep learning</a:t>
            </a:r>
            <a:r>
              <a:rPr lang="en-US" sz="1250" dirty="0">
                <a:solidFill>
                  <a:srgbClr val="3A2412"/>
                </a:solidFill>
                <a:latin typeface="Arial" pitchFamily="34" charset="0"/>
                <a:ea typeface="Arial" pitchFamily="34" charset="-122"/>
                <a:cs typeface="Arial" pitchFamily="34" charset="-120"/>
              </a:rPr>
              <a:t> reached about </a:t>
            </a:r>
            <a:r>
              <a:rPr lang="en-US" sz="1250" b="1" dirty="0">
                <a:solidFill>
                  <a:srgbClr val="3A2412"/>
                </a:solidFill>
                <a:latin typeface="Arial" pitchFamily="34" charset="0"/>
                <a:ea typeface="Arial" pitchFamily="34" charset="-122"/>
                <a:cs typeface="Arial" pitchFamily="34" charset="-120"/>
              </a:rPr>
              <a:t>99%</a:t>
            </a:r>
            <a:r>
              <a:rPr lang="en-US" sz="1250" dirty="0">
                <a:solidFill>
                  <a:srgbClr val="3A2412"/>
                </a:solidFill>
                <a:latin typeface="Arial" pitchFamily="34" charset="0"/>
                <a:ea typeface="Arial" pitchFamily="34" charset="-122"/>
                <a:cs typeface="Arial" pitchFamily="34" charset="-120"/>
              </a:rPr>
              <a:t> on mixed honey.</a:t>
            </a:r>
            <a:endParaRPr lang="en-US" sz="1250" dirty="0"/>
          </a:p>
        </p:txBody>
      </p:sp>
      <p:sp>
        <p:nvSpPr>
          <p:cNvPr id="11" name="Shape 9"/>
          <p:cNvSpPr/>
          <p:nvPr/>
        </p:nvSpPr>
        <p:spPr>
          <a:xfrm>
            <a:off x="6223000" y="3799839"/>
            <a:ext cx="5156200" cy="533400"/>
          </a:xfrm>
          <a:prstGeom prst="roundRect">
            <a:avLst>
              <a:gd name="adj" fmla="val 16667"/>
            </a:avLst>
          </a:prstGeom>
          <a:solidFill>
            <a:srgbClr val="3A2412"/>
          </a:solidFill>
          <a:ln/>
        </p:spPr>
        <p:txBody>
          <a:bodyPr/>
          <a:lstStyle/>
          <a:p>
            <a:endParaRPr lang="en-US"/>
          </a:p>
        </p:txBody>
      </p:sp>
      <p:pic>
        <p:nvPicPr>
          <p:cNvPr id="12" name="Image 0" descr="Lightbulb"/>
          <p:cNvPicPr>
            <a:picLocks noChangeAspect="1"/>
          </p:cNvPicPr>
          <p:nvPr/>
        </p:nvPicPr>
        <p:blipFill>
          <a:blip r:embed="rId3"/>
          <a:srcRect/>
          <a:stretch/>
        </p:blipFill>
        <p:spPr>
          <a:xfrm>
            <a:off x="6388100" y="3939539"/>
            <a:ext cx="254000" cy="254000"/>
          </a:xfrm>
          <a:prstGeom prst="rect">
            <a:avLst/>
          </a:prstGeom>
        </p:spPr>
      </p:pic>
      <p:sp>
        <p:nvSpPr>
          <p:cNvPr id="13" name="Text 10"/>
          <p:cNvSpPr/>
          <p:nvPr/>
        </p:nvSpPr>
        <p:spPr>
          <a:xfrm>
            <a:off x="6743700" y="3959383"/>
            <a:ext cx="4604512" cy="239713"/>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F6EFE1"/>
                </a:solidFill>
                <a:latin typeface="Arial" pitchFamily="34" charset="0"/>
                <a:ea typeface="Arial" pitchFamily="34" charset="-122"/>
                <a:cs typeface="Arial" pitchFamily="34" charset="-120"/>
              </a:rPr>
              <a:t>Honey has the same problem - and cheap tools solve it.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EF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A16"/>
                </a:solidFill>
                <a:latin typeface="Arial" pitchFamily="34" charset="0"/>
                <a:ea typeface="Arial" pitchFamily="34" charset="-122"/>
                <a:cs typeface="Arial" pitchFamily="34" charset="-120"/>
              </a:rPr>
              <a:t>THE RESEARCH GAP</a:t>
            </a:r>
            <a:endParaRPr lang="en-US" sz="1200" dirty="0"/>
          </a:p>
        </p:txBody>
      </p:sp>
      <p:sp>
        <p:nvSpPr>
          <p:cNvPr id="3" name="Text 1"/>
          <p:cNvSpPr>
            <a:spLocks noGrp="1"/>
          </p:cNvSpPr>
          <p:nvPr>
            <p:ph type="title"/>
          </p:nvPr>
        </p:nvSpPr>
        <p:spPr>
          <a:xfrm>
            <a:off x="812800" y="1102361"/>
            <a:ext cx="10883392" cy="458470"/>
          </a:xfrm>
          <a:prstGeom prst="rect">
            <a:avLst/>
          </a:prstGeom>
          <a:noFill/>
          <a:ln/>
        </p:spPr>
        <p:txBody>
          <a:bodyPr wrap="square" lIns="0" tIns="0" rIns="0" bIns="0" rtlCol="0" anchor="t">
            <a:normAutofit/>
          </a:bodyPr>
          <a:lstStyle/>
          <a:p>
            <a:pPr marL="0" indent="0" algn="l">
              <a:lnSpc>
                <a:spcPts val="3410"/>
              </a:lnSpc>
              <a:buNone/>
            </a:pPr>
            <a:r>
              <a:rPr lang="en-US" sz="3100" b="1" i="0" dirty="0">
                <a:solidFill>
                  <a:srgbClr val="3A2412"/>
                </a:solidFill>
                <a:latin typeface="Georgia" pitchFamily="18" charset="0"/>
                <a:ea typeface="Georgia" pitchFamily="18" charset="-122"/>
                <a:cs typeface="Georgia" pitchFamily="18" charset="-120"/>
              </a:rPr>
              <a:t>The empty space we fill</a:t>
            </a:r>
            <a:endParaRPr lang="en-US" sz="3100" dirty="0"/>
          </a:p>
        </p:txBody>
      </p:sp>
      <p:sp>
        <p:nvSpPr>
          <p:cNvPr id="4" name="Shape 2"/>
          <p:cNvSpPr/>
          <p:nvPr/>
        </p:nvSpPr>
        <p:spPr>
          <a:xfrm>
            <a:off x="815975" y="1818007"/>
            <a:ext cx="3397250" cy="1583690"/>
          </a:xfrm>
          <a:prstGeom prst="roundRect">
            <a:avLst>
              <a:gd name="adj" fmla="val 7819"/>
            </a:avLst>
          </a:prstGeom>
          <a:solidFill>
            <a:srgbClr val="FCF7EC"/>
          </a:solidFill>
          <a:ln w="6350">
            <a:solidFill>
              <a:srgbClr val="E4D6BC"/>
            </a:solidFill>
            <a:prstDash val="solid"/>
          </a:ln>
        </p:spPr>
        <p:txBody>
          <a:bodyPr/>
          <a:lstStyle/>
          <a:p>
            <a:endParaRPr lang="en-US"/>
          </a:p>
        </p:txBody>
      </p:sp>
      <p:pic>
        <p:nvPicPr>
          <p:cNvPr id="5" name="Image 0" descr="Search"/>
          <p:cNvPicPr>
            <a:picLocks noChangeAspect="1"/>
          </p:cNvPicPr>
          <p:nvPr/>
        </p:nvPicPr>
        <p:blipFill>
          <a:blip r:embed="rId3"/>
          <a:srcRect/>
          <a:stretch/>
        </p:blipFill>
        <p:spPr>
          <a:xfrm>
            <a:off x="1046480" y="2048511"/>
            <a:ext cx="292100" cy="292100"/>
          </a:xfrm>
          <a:prstGeom prst="rect">
            <a:avLst/>
          </a:prstGeom>
        </p:spPr>
      </p:pic>
      <p:sp>
        <p:nvSpPr>
          <p:cNvPr id="6" name="Text 3"/>
          <p:cNvSpPr/>
          <p:nvPr/>
        </p:nvSpPr>
        <p:spPr>
          <a:xfrm>
            <a:off x="1046480" y="2416811"/>
            <a:ext cx="3024327"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3A2412"/>
                </a:solidFill>
                <a:latin typeface="Georgia" pitchFamily="18" charset="0"/>
                <a:ea typeface="Georgia" pitchFamily="18" charset="-122"/>
                <a:cs typeface="Georgia" pitchFamily="18" charset="-120"/>
              </a:rPr>
              <a:t>Only lab methods</a:t>
            </a:r>
            <a:endParaRPr lang="en-US" sz="1600" dirty="0"/>
          </a:p>
        </p:txBody>
      </p:sp>
      <p:sp>
        <p:nvSpPr>
          <p:cNvPr id="7" name="Text 4"/>
          <p:cNvSpPr/>
          <p:nvPr/>
        </p:nvSpPr>
        <p:spPr>
          <a:xfrm>
            <a:off x="1046480" y="2726689"/>
            <a:ext cx="3024327"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3420"/>
                </a:solidFill>
                <a:latin typeface="Arial" pitchFamily="34" charset="0"/>
                <a:ea typeface="Arial" pitchFamily="34" charset="-122"/>
                <a:cs typeface="Arial" pitchFamily="34" charset="-120"/>
              </a:rPr>
              <a:t>Kithul testing is slow, costly and needs experts.</a:t>
            </a:r>
            <a:endParaRPr lang="en-US" sz="1250" dirty="0"/>
          </a:p>
        </p:txBody>
      </p:sp>
      <p:sp>
        <p:nvSpPr>
          <p:cNvPr id="8" name="Shape 5"/>
          <p:cNvSpPr/>
          <p:nvPr/>
        </p:nvSpPr>
        <p:spPr>
          <a:xfrm>
            <a:off x="4397375" y="1818007"/>
            <a:ext cx="3397250" cy="1583690"/>
          </a:xfrm>
          <a:prstGeom prst="roundRect">
            <a:avLst>
              <a:gd name="adj" fmla="val 7819"/>
            </a:avLst>
          </a:prstGeom>
          <a:solidFill>
            <a:srgbClr val="FCF7EC"/>
          </a:solidFill>
          <a:ln w="6350">
            <a:solidFill>
              <a:srgbClr val="E4D6BC"/>
            </a:solidFill>
            <a:prstDash val="solid"/>
          </a:ln>
        </p:spPr>
        <p:txBody>
          <a:bodyPr/>
          <a:lstStyle/>
          <a:p>
            <a:endParaRPr lang="en-US"/>
          </a:p>
        </p:txBody>
      </p:sp>
      <p:pic>
        <p:nvPicPr>
          <p:cNvPr id="9" name="Image 1" descr="Lightning"/>
          <p:cNvPicPr>
            <a:picLocks noChangeAspect="1"/>
          </p:cNvPicPr>
          <p:nvPr/>
        </p:nvPicPr>
        <p:blipFill>
          <a:blip r:embed="rId4"/>
          <a:srcRect/>
          <a:stretch/>
        </p:blipFill>
        <p:spPr>
          <a:xfrm>
            <a:off x="4627880" y="2048511"/>
            <a:ext cx="292100" cy="292100"/>
          </a:xfrm>
          <a:prstGeom prst="rect">
            <a:avLst/>
          </a:prstGeom>
        </p:spPr>
      </p:pic>
      <p:sp>
        <p:nvSpPr>
          <p:cNvPr id="10" name="Text 6"/>
          <p:cNvSpPr/>
          <p:nvPr/>
        </p:nvSpPr>
        <p:spPr>
          <a:xfrm>
            <a:off x="4627880" y="2416811"/>
            <a:ext cx="3024327"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3A2412"/>
                </a:solidFill>
                <a:latin typeface="Georgia" pitchFamily="18" charset="0"/>
                <a:ea typeface="Georgia" pitchFamily="18" charset="-122"/>
                <a:cs typeface="Georgia" pitchFamily="18" charset="-120"/>
              </a:rPr>
              <a:t>Not tried on kithul</a:t>
            </a:r>
            <a:endParaRPr lang="en-US" sz="1600" dirty="0"/>
          </a:p>
        </p:txBody>
      </p:sp>
      <p:sp>
        <p:nvSpPr>
          <p:cNvPr id="11" name="Text 7"/>
          <p:cNvSpPr/>
          <p:nvPr/>
        </p:nvSpPr>
        <p:spPr>
          <a:xfrm>
            <a:off x="4627880" y="2726689"/>
            <a:ext cx="3024327"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3420"/>
                </a:solidFill>
                <a:latin typeface="Arial" pitchFamily="34" charset="0"/>
                <a:ea typeface="Arial" pitchFamily="34" charset="-122"/>
                <a:cs typeface="Arial" pitchFamily="34" charset="-120"/>
              </a:rPr>
              <a:t>Cheap AI works for honey, but nobody applied it to kithul.</a:t>
            </a:r>
            <a:endParaRPr lang="en-US" sz="1250" dirty="0"/>
          </a:p>
        </p:txBody>
      </p:sp>
      <p:sp>
        <p:nvSpPr>
          <p:cNvPr id="12" name="Shape 8"/>
          <p:cNvSpPr/>
          <p:nvPr/>
        </p:nvSpPr>
        <p:spPr>
          <a:xfrm>
            <a:off x="7978775" y="1818007"/>
            <a:ext cx="3397250" cy="1583690"/>
          </a:xfrm>
          <a:prstGeom prst="roundRect">
            <a:avLst>
              <a:gd name="adj" fmla="val 7819"/>
            </a:avLst>
          </a:prstGeom>
          <a:solidFill>
            <a:srgbClr val="FCF7EC"/>
          </a:solidFill>
          <a:ln w="6350">
            <a:solidFill>
              <a:srgbClr val="E4D6BC"/>
            </a:solidFill>
            <a:prstDash val="solid"/>
          </a:ln>
        </p:spPr>
        <p:txBody>
          <a:bodyPr/>
          <a:lstStyle/>
          <a:p>
            <a:endParaRPr lang="en-US"/>
          </a:p>
        </p:txBody>
      </p:sp>
      <p:pic>
        <p:nvPicPr>
          <p:cNvPr id="13" name="Image 2" descr="Database"/>
          <p:cNvPicPr>
            <a:picLocks noChangeAspect="1"/>
          </p:cNvPicPr>
          <p:nvPr/>
        </p:nvPicPr>
        <p:blipFill>
          <a:blip r:embed="rId5"/>
          <a:srcRect/>
          <a:stretch/>
        </p:blipFill>
        <p:spPr>
          <a:xfrm>
            <a:off x="8209280" y="2048511"/>
            <a:ext cx="292100" cy="292100"/>
          </a:xfrm>
          <a:prstGeom prst="rect">
            <a:avLst/>
          </a:prstGeom>
        </p:spPr>
      </p:pic>
      <p:sp>
        <p:nvSpPr>
          <p:cNvPr id="14" name="Text 9"/>
          <p:cNvSpPr/>
          <p:nvPr/>
        </p:nvSpPr>
        <p:spPr>
          <a:xfrm>
            <a:off x="8209280" y="2416811"/>
            <a:ext cx="3024327"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3A2412"/>
                </a:solidFill>
                <a:latin typeface="Georgia" pitchFamily="18" charset="0"/>
                <a:ea typeface="Georgia" pitchFamily="18" charset="-122"/>
                <a:cs typeface="Georgia" pitchFamily="18" charset="-120"/>
              </a:rPr>
              <a:t>No dataset exists</a:t>
            </a:r>
            <a:endParaRPr lang="en-US" sz="1600" dirty="0"/>
          </a:p>
        </p:txBody>
      </p:sp>
      <p:sp>
        <p:nvSpPr>
          <p:cNvPr id="15" name="Text 10"/>
          <p:cNvSpPr/>
          <p:nvPr/>
        </p:nvSpPr>
        <p:spPr>
          <a:xfrm>
            <a:off x="8209280" y="2726689"/>
            <a:ext cx="3024327"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3420"/>
                </a:solidFill>
                <a:latin typeface="Arial" pitchFamily="34" charset="0"/>
                <a:ea typeface="Arial" pitchFamily="34" charset="-122"/>
                <a:cs typeface="Arial" pitchFamily="34" charset="-120"/>
              </a:rPr>
              <a:t>No images, sensor readings or videos of kithul treacle.</a:t>
            </a:r>
            <a:endParaRPr lang="en-US" sz="1250" dirty="0"/>
          </a:p>
        </p:txBody>
      </p:sp>
      <p:sp>
        <p:nvSpPr>
          <p:cNvPr id="16" name="Shape 11"/>
          <p:cNvSpPr/>
          <p:nvPr/>
        </p:nvSpPr>
        <p:spPr>
          <a:xfrm>
            <a:off x="812800" y="3684271"/>
            <a:ext cx="10566400" cy="723900"/>
          </a:xfrm>
          <a:prstGeom prst="roundRect">
            <a:avLst>
              <a:gd name="adj" fmla="val 17544"/>
            </a:avLst>
          </a:prstGeom>
          <a:solidFill>
            <a:srgbClr val="3A2412"/>
          </a:solidFill>
          <a:ln/>
        </p:spPr>
        <p:txBody>
          <a:bodyPr/>
          <a:lstStyle/>
          <a:p>
            <a:endParaRPr lang="en-US"/>
          </a:p>
        </p:txBody>
      </p:sp>
      <p:pic>
        <p:nvPicPr>
          <p:cNvPr id="17" name="Image 3" descr="Key"/>
          <p:cNvPicPr>
            <a:picLocks noChangeAspect="1"/>
          </p:cNvPicPr>
          <p:nvPr/>
        </p:nvPicPr>
        <p:blipFill>
          <a:blip r:embed="rId6"/>
          <a:srcRect/>
          <a:stretch/>
        </p:blipFill>
        <p:spPr>
          <a:xfrm>
            <a:off x="1092200" y="3900171"/>
            <a:ext cx="292100" cy="292100"/>
          </a:xfrm>
          <a:prstGeom prst="rect">
            <a:avLst/>
          </a:prstGeom>
        </p:spPr>
      </p:pic>
      <p:sp>
        <p:nvSpPr>
          <p:cNvPr id="18" name="Text 12"/>
          <p:cNvSpPr/>
          <p:nvPr/>
        </p:nvSpPr>
        <p:spPr>
          <a:xfrm>
            <a:off x="1511300" y="3912871"/>
            <a:ext cx="987615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0A64B"/>
                </a:solidFill>
                <a:latin typeface="Arial" pitchFamily="34" charset="0"/>
                <a:ea typeface="Arial" pitchFamily="34" charset="-122"/>
                <a:cs typeface="Arial" pitchFamily="34" charset="-120"/>
              </a:rPr>
              <a:t>Our contribution:</a:t>
            </a:r>
            <a:r>
              <a:rPr lang="en-US" sz="1500" dirty="0">
                <a:solidFill>
                  <a:srgbClr val="F6EFE1"/>
                </a:solidFill>
                <a:latin typeface="Arial" pitchFamily="34" charset="0"/>
                <a:ea typeface="Arial" pitchFamily="34" charset="-122"/>
                <a:cs typeface="Arial" pitchFamily="34" charset="-120"/>
              </a:rPr>
              <a:t> the first low-cost AI method </a:t>
            </a:r>
            <a:r>
              <a:rPr lang="en-US" sz="1500" i="1" dirty="0">
                <a:solidFill>
                  <a:srgbClr val="F6EFE1"/>
                </a:solidFill>
                <a:latin typeface="Arial" pitchFamily="34" charset="0"/>
                <a:ea typeface="Arial" pitchFamily="34" charset="-122"/>
                <a:cs typeface="Arial" pitchFamily="34" charset="-120"/>
              </a:rPr>
              <a:t>and</a:t>
            </a:r>
            <a:r>
              <a:rPr lang="en-US" sz="1500" dirty="0">
                <a:solidFill>
                  <a:srgbClr val="F6EFE1"/>
                </a:solidFill>
                <a:latin typeface="Arial" pitchFamily="34" charset="0"/>
                <a:ea typeface="Arial" pitchFamily="34" charset="-122"/>
                <a:cs typeface="Arial" pitchFamily="34" charset="-120"/>
              </a:rPr>
              <a:t> the first open dataset for kithul treacle.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EF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A16"/>
                </a:solidFill>
                <a:latin typeface="Arial" pitchFamily="34" charset="0"/>
                <a:ea typeface="Arial" pitchFamily="34" charset="-122"/>
                <a:cs typeface="Arial" pitchFamily="34" charset="-120"/>
              </a:rPr>
              <a:t>OUR APPROACH</a:t>
            </a:r>
            <a:endParaRPr lang="en-US" sz="1200" dirty="0"/>
          </a:p>
        </p:txBody>
      </p:sp>
      <p:sp>
        <p:nvSpPr>
          <p:cNvPr id="3" name="Text 1"/>
          <p:cNvSpPr>
            <a:spLocks noGrp="1"/>
          </p:cNvSpPr>
          <p:nvPr>
            <p:ph type="title"/>
          </p:nvPr>
        </p:nvSpPr>
        <p:spPr>
          <a:xfrm>
            <a:off x="812800" y="1102361"/>
            <a:ext cx="11379200" cy="458470"/>
          </a:xfrm>
          <a:prstGeom prst="rect">
            <a:avLst/>
          </a:prstGeom>
          <a:noFill/>
          <a:ln/>
        </p:spPr>
        <p:txBody>
          <a:bodyPr wrap="square" lIns="0" tIns="0" rIns="0" bIns="0" rtlCol="0" anchor="t">
            <a:normAutofit/>
          </a:bodyPr>
          <a:lstStyle/>
          <a:p>
            <a:pPr marL="0" indent="0" algn="l">
              <a:lnSpc>
                <a:spcPts val="3410"/>
              </a:lnSpc>
              <a:buNone/>
            </a:pPr>
            <a:r>
              <a:rPr lang="en-US" sz="3100" b="1" i="0" dirty="0">
                <a:solidFill>
                  <a:srgbClr val="3A2412"/>
                </a:solidFill>
                <a:latin typeface="Georgia" pitchFamily="18" charset="0"/>
                <a:ea typeface="Georgia" pitchFamily="18" charset="-122"/>
                <a:cs typeface="Georgia" pitchFamily="18" charset="-120"/>
              </a:rPr>
              <a:t>Three cheap ways to spot a fake, then combine them</a:t>
            </a:r>
            <a:endParaRPr lang="en-US" sz="3100" dirty="0"/>
          </a:p>
        </p:txBody>
      </p:sp>
      <p:sp>
        <p:nvSpPr>
          <p:cNvPr id="4" name="Shape 2"/>
          <p:cNvSpPr/>
          <p:nvPr/>
        </p:nvSpPr>
        <p:spPr>
          <a:xfrm>
            <a:off x="815975" y="1830707"/>
            <a:ext cx="2618264" cy="2075180"/>
          </a:xfrm>
          <a:prstGeom prst="roundRect">
            <a:avLst>
              <a:gd name="adj" fmla="val 5967"/>
            </a:avLst>
          </a:prstGeom>
          <a:solidFill>
            <a:srgbClr val="FCF7EC"/>
          </a:solidFill>
          <a:ln w="6350">
            <a:solidFill>
              <a:srgbClr val="E4D6BC"/>
            </a:solidFill>
            <a:prstDash val="solid"/>
          </a:ln>
        </p:spPr>
        <p:txBody>
          <a:bodyPr/>
          <a:lstStyle/>
          <a:p>
            <a:endParaRPr lang="en-US"/>
          </a:p>
        </p:txBody>
      </p:sp>
      <p:pic>
        <p:nvPicPr>
          <p:cNvPr id="5" name="Image 0" descr="Search"/>
          <p:cNvPicPr>
            <a:picLocks noChangeAspect="1"/>
          </p:cNvPicPr>
          <p:nvPr/>
        </p:nvPicPr>
        <p:blipFill>
          <a:blip r:embed="rId3"/>
          <a:srcRect/>
          <a:stretch/>
        </p:blipFill>
        <p:spPr>
          <a:xfrm>
            <a:off x="1033780" y="2048511"/>
            <a:ext cx="317500" cy="317500"/>
          </a:xfrm>
          <a:prstGeom prst="rect">
            <a:avLst/>
          </a:prstGeom>
        </p:spPr>
      </p:pic>
      <p:sp>
        <p:nvSpPr>
          <p:cNvPr id="6" name="Text 3"/>
          <p:cNvSpPr/>
          <p:nvPr/>
        </p:nvSpPr>
        <p:spPr>
          <a:xfrm>
            <a:off x="1033780" y="2454911"/>
            <a:ext cx="224813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3A2412"/>
                </a:solidFill>
                <a:latin typeface="Georgia" pitchFamily="18" charset="0"/>
                <a:ea typeface="Georgia" pitchFamily="18" charset="-122"/>
                <a:cs typeface="Georgia" pitchFamily="18" charset="-120"/>
              </a:rPr>
              <a:t>Phone camera</a:t>
            </a:r>
            <a:endParaRPr lang="en-US" sz="1600" dirty="0"/>
          </a:p>
        </p:txBody>
      </p:sp>
      <p:sp>
        <p:nvSpPr>
          <p:cNvPr id="7" name="Text 4"/>
          <p:cNvSpPr/>
          <p:nvPr/>
        </p:nvSpPr>
        <p:spPr>
          <a:xfrm>
            <a:off x="1033780" y="2787650"/>
            <a:ext cx="2248133"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3420"/>
                </a:solidFill>
                <a:latin typeface="Arial" pitchFamily="34" charset="0"/>
                <a:ea typeface="Arial" pitchFamily="34" charset="-122"/>
                <a:cs typeface="Arial" pitchFamily="34" charset="-120"/>
              </a:rPr>
              <a:t>Colour, clarity and how the treacle flows.</a:t>
            </a:r>
            <a:endParaRPr lang="en-US" sz="1250" dirty="0"/>
          </a:p>
        </p:txBody>
      </p:sp>
      <p:sp>
        <p:nvSpPr>
          <p:cNvPr id="8" name="Shape 5"/>
          <p:cNvSpPr/>
          <p:nvPr/>
        </p:nvSpPr>
        <p:spPr>
          <a:xfrm>
            <a:off x="3567589" y="1830707"/>
            <a:ext cx="2618343" cy="2075180"/>
          </a:xfrm>
          <a:prstGeom prst="roundRect">
            <a:avLst>
              <a:gd name="adj" fmla="val 5967"/>
            </a:avLst>
          </a:prstGeom>
          <a:solidFill>
            <a:srgbClr val="FCF7EC"/>
          </a:solidFill>
          <a:ln w="6350">
            <a:solidFill>
              <a:srgbClr val="E4D6BC"/>
            </a:solidFill>
            <a:prstDash val="solid"/>
          </a:ln>
        </p:spPr>
        <p:txBody>
          <a:bodyPr/>
          <a:lstStyle/>
          <a:p>
            <a:endParaRPr lang="en-US"/>
          </a:p>
        </p:txBody>
      </p:sp>
      <p:pic>
        <p:nvPicPr>
          <p:cNvPr id="9" name="Image 1" descr="Settings"/>
          <p:cNvPicPr>
            <a:picLocks noChangeAspect="1"/>
          </p:cNvPicPr>
          <p:nvPr/>
        </p:nvPicPr>
        <p:blipFill>
          <a:blip r:embed="rId4"/>
          <a:srcRect/>
          <a:stretch/>
        </p:blipFill>
        <p:spPr>
          <a:xfrm>
            <a:off x="3785394" y="2048511"/>
            <a:ext cx="317500" cy="317500"/>
          </a:xfrm>
          <a:prstGeom prst="rect">
            <a:avLst/>
          </a:prstGeom>
        </p:spPr>
      </p:pic>
      <p:sp>
        <p:nvSpPr>
          <p:cNvPr id="10" name="Text 6"/>
          <p:cNvSpPr/>
          <p:nvPr/>
        </p:nvSpPr>
        <p:spPr>
          <a:xfrm>
            <a:off x="3785394" y="2454911"/>
            <a:ext cx="224821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3A2412"/>
                </a:solidFill>
                <a:latin typeface="Georgia" pitchFamily="18" charset="0"/>
                <a:ea typeface="Georgia" pitchFamily="18" charset="-122"/>
                <a:cs typeface="Georgia" pitchFamily="18" charset="-120"/>
              </a:rPr>
              <a:t>Sensor device</a:t>
            </a:r>
            <a:endParaRPr lang="en-US" sz="1600" dirty="0"/>
          </a:p>
        </p:txBody>
      </p:sp>
      <p:sp>
        <p:nvSpPr>
          <p:cNvPr id="11" name="Text 7"/>
          <p:cNvSpPr/>
          <p:nvPr/>
        </p:nvSpPr>
        <p:spPr>
          <a:xfrm>
            <a:off x="3785394" y="2787650"/>
            <a:ext cx="2248215"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3420"/>
                </a:solidFill>
                <a:latin typeface="Arial" pitchFamily="34" charset="0"/>
                <a:ea typeface="Arial" pitchFamily="34" charset="-122"/>
                <a:cs typeface="Arial" pitchFamily="34" charset="-120"/>
              </a:rPr>
              <a:t>Light bands and electrical conductivity.</a:t>
            </a:r>
            <a:endParaRPr lang="en-US" sz="1250" dirty="0"/>
          </a:p>
        </p:txBody>
      </p:sp>
      <p:sp>
        <p:nvSpPr>
          <p:cNvPr id="12" name="Shape 8"/>
          <p:cNvSpPr/>
          <p:nvPr/>
        </p:nvSpPr>
        <p:spPr>
          <a:xfrm>
            <a:off x="6319282" y="1830707"/>
            <a:ext cx="2618343" cy="2075180"/>
          </a:xfrm>
          <a:prstGeom prst="roundRect">
            <a:avLst>
              <a:gd name="adj" fmla="val 5967"/>
            </a:avLst>
          </a:prstGeom>
          <a:solidFill>
            <a:srgbClr val="FCF7EC"/>
          </a:solidFill>
          <a:ln w="6350">
            <a:solidFill>
              <a:srgbClr val="E4D6BC"/>
            </a:solidFill>
            <a:prstDash val="solid"/>
          </a:ln>
        </p:spPr>
        <p:txBody>
          <a:bodyPr/>
          <a:lstStyle/>
          <a:p>
            <a:endParaRPr lang="en-US"/>
          </a:p>
        </p:txBody>
      </p:sp>
      <p:pic>
        <p:nvPicPr>
          <p:cNvPr id="13" name="Image 2" descr="Activity"/>
          <p:cNvPicPr>
            <a:picLocks noChangeAspect="1"/>
          </p:cNvPicPr>
          <p:nvPr/>
        </p:nvPicPr>
        <p:blipFill>
          <a:blip r:embed="rId5"/>
          <a:srcRect/>
          <a:stretch/>
        </p:blipFill>
        <p:spPr>
          <a:xfrm>
            <a:off x="6537087" y="2048511"/>
            <a:ext cx="317500" cy="317500"/>
          </a:xfrm>
          <a:prstGeom prst="rect">
            <a:avLst/>
          </a:prstGeom>
        </p:spPr>
      </p:pic>
      <p:sp>
        <p:nvSpPr>
          <p:cNvPr id="14" name="Text 9"/>
          <p:cNvSpPr/>
          <p:nvPr/>
        </p:nvSpPr>
        <p:spPr>
          <a:xfrm>
            <a:off x="6537087" y="2454911"/>
            <a:ext cx="224821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3A2412"/>
                </a:solidFill>
                <a:latin typeface="Georgia" pitchFamily="18" charset="0"/>
                <a:ea typeface="Georgia" pitchFamily="18" charset="-122"/>
                <a:cs typeface="Georgia" pitchFamily="18" charset="-120"/>
              </a:rPr>
              <a:t>Thermal camera</a:t>
            </a:r>
            <a:endParaRPr lang="en-US" sz="1600" dirty="0"/>
          </a:p>
        </p:txBody>
      </p:sp>
      <p:sp>
        <p:nvSpPr>
          <p:cNvPr id="15" name="Text 10"/>
          <p:cNvSpPr/>
          <p:nvPr/>
        </p:nvSpPr>
        <p:spPr>
          <a:xfrm>
            <a:off x="6537087" y="2787650"/>
            <a:ext cx="2248215"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3420"/>
                </a:solidFill>
                <a:latin typeface="Arial" pitchFamily="34" charset="0"/>
                <a:ea typeface="Arial" pitchFamily="34" charset="-122"/>
                <a:cs typeface="Arial" pitchFamily="34" charset="-120"/>
              </a:rPr>
              <a:t>How the treacle heats up and cools down.</a:t>
            </a:r>
            <a:endParaRPr lang="en-US" sz="1250" dirty="0"/>
          </a:p>
        </p:txBody>
      </p:sp>
      <p:pic>
        <p:nvPicPr>
          <p:cNvPr id="16" name="Image 3" descr="arrow-right"/>
          <p:cNvPicPr>
            <a:picLocks noChangeAspect="1"/>
          </p:cNvPicPr>
          <p:nvPr/>
        </p:nvPicPr>
        <p:blipFill>
          <a:blip r:embed="rId6"/>
          <a:srcRect/>
          <a:stretch/>
        </p:blipFill>
        <p:spPr>
          <a:xfrm>
            <a:off x="9067800" y="2798446"/>
            <a:ext cx="279400" cy="139700"/>
          </a:xfrm>
          <a:prstGeom prst="rect">
            <a:avLst/>
          </a:prstGeom>
        </p:spPr>
      </p:pic>
      <p:sp>
        <p:nvSpPr>
          <p:cNvPr id="17" name="Shape 11"/>
          <p:cNvSpPr/>
          <p:nvPr/>
        </p:nvSpPr>
        <p:spPr>
          <a:xfrm>
            <a:off x="9474200" y="1827532"/>
            <a:ext cx="1905000" cy="2081530"/>
          </a:xfrm>
          <a:prstGeom prst="roundRect">
            <a:avLst>
              <a:gd name="adj" fmla="val 6667"/>
            </a:avLst>
          </a:prstGeom>
          <a:solidFill>
            <a:srgbClr val="3A2412"/>
          </a:solidFill>
          <a:ln/>
        </p:spPr>
        <p:txBody>
          <a:bodyPr/>
          <a:lstStyle/>
          <a:p>
            <a:endParaRPr lang="en-US"/>
          </a:p>
        </p:txBody>
      </p:sp>
      <p:pic>
        <p:nvPicPr>
          <p:cNvPr id="18" name="Image 4" descr="Verified"/>
          <p:cNvPicPr>
            <a:picLocks noChangeAspect="1"/>
          </p:cNvPicPr>
          <p:nvPr/>
        </p:nvPicPr>
        <p:blipFill>
          <a:blip r:embed="rId7"/>
          <a:srcRect/>
          <a:stretch/>
        </p:blipFill>
        <p:spPr>
          <a:xfrm>
            <a:off x="9690100" y="2043432"/>
            <a:ext cx="317500" cy="317500"/>
          </a:xfrm>
          <a:prstGeom prst="rect">
            <a:avLst/>
          </a:prstGeom>
        </p:spPr>
      </p:pic>
      <p:sp>
        <p:nvSpPr>
          <p:cNvPr id="19" name="Text 12"/>
          <p:cNvSpPr/>
          <p:nvPr/>
        </p:nvSpPr>
        <p:spPr>
          <a:xfrm>
            <a:off x="9690100" y="2449832"/>
            <a:ext cx="1524000"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EFE1"/>
                </a:solidFill>
                <a:latin typeface="Georgia" pitchFamily="18" charset="0"/>
                <a:ea typeface="Georgia" pitchFamily="18" charset="-122"/>
                <a:cs typeface="Georgia" pitchFamily="18" charset="-120"/>
              </a:rPr>
              <a:t>Combined model</a:t>
            </a:r>
            <a:endParaRPr lang="en-US" sz="1600" dirty="0"/>
          </a:p>
        </p:txBody>
      </p:sp>
      <p:sp>
        <p:nvSpPr>
          <p:cNvPr id="20" name="Text 13"/>
          <p:cNvSpPr/>
          <p:nvPr/>
        </p:nvSpPr>
        <p:spPr>
          <a:xfrm>
            <a:off x="9690100" y="3026411"/>
            <a:ext cx="1524000"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9C6A8"/>
                </a:solidFill>
                <a:latin typeface="Arial" pitchFamily="34" charset="0"/>
                <a:ea typeface="Arial" pitchFamily="34" charset="-122"/>
                <a:cs typeface="Arial" pitchFamily="34" charset="-120"/>
              </a:rPr>
              <a:t>One answer: pure or mixed, and how much sugar.</a:t>
            </a:r>
            <a:endParaRPr lang="en-US" sz="1250" dirty="0"/>
          </a:p>
        </p:txBody>
      </p:sp>
      <p:sp>
        <p:nvSpPr>
          <p:cNvPr id="21" name="Shape 14"/>
          <p:cNvSpPr/>
          <p:nvPr/>
        </p:nvSpPr>
        <p:spPr>
          <a:xfrm>
            <a:off x="812800" y="4201161"/>
            <a:ext cx="10566400" cy="596900"/>
          </a:xfrm>
          <a:prstGeom prst="roundRect">
            <a:avLst>
              <a:gd name="adj" fmla="val 17021"/>
            </a:avLst>
          </a:prstGeom>
          <a:solidFill>
            <a:srgbClr val="EAF0E4"/>
          </a:solidFill>
          <a:ln/>
        </p:spPr>
        <p:txBody>
          <a:bodyPr/>
          <a:lstStyle/>
          <a:p>
            <a:endParaRPr lang="en-US"/>
          </a:p>
        </p:txBody>
      </p:sp>
      <p:pic>
        <p:nvPicPr>
          <p:cNvPr id="22" name="Image 5" descr="CheckCircle"/>
          <p:cNvPicPr>
            <a:picLocks noChangeAspect="1"/>
          </p:cNvPicPr>
          <p:nvPr/>
        </p:nvPicPr>
        <p:blipFill>
          <a:blip r:embed="rId8"/>
          <a:srcRect/>
          <a:stretch/>
        </p:blipFill>
        <p:spPr>
          <a:xfrm>
            <a:off x="1028700" y="4366261"/>
            <a:ext cx="266700" cy="266700"/>
          </a:xfrm>
          <a:prstGeom prst="rect">
            <a:avLst/>
          </a:prstGeom>
        </p:spPr>
      </p:pic>
      <p:sp>
        <p:nvSpPr>
          <p:cNvPr id="23" name="Text 15"/>
          <p:cNvSpPr/>
          <p:nvPr/>
        </p:nvSpPr>
        <p:spPr>
          <a:xfrm>
            <a:off x="1397000" y="4384039"/>
            <a:ext cx="10059289"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A2412"/>
                </a:solidFill>
                <a:latin typeface="Arial" pitchFamily="34" charset="0"/>
                <a:ea typeface="Arial" pitchFamily="34" charset="-122"/>
                <a:cs typeface="Arial" pitchFamily="34" charset="-120"/>
              </a:rPr>
              <a:t>Then test on real shop-bought treacle</a:t>
            </a:r>
            <a:r>
              <a:rPr lang="en-US" sz="1300" dirty="0">
                <a:solidFill>
                  <a:srgbClr val="3A2412"/>
                </a:solidFill>
                <a:latin typeface="Arial" pitchFamily="34" charset="0"/>
                <a:ea typeface="Arial" pitchFamily="34" charset="-122"/>
                <a:cs typeface="Arial" pitchFamily="34" charset="-120"/>
              </a:rPr>
              <a:t> and confirm with a lab, to prove it works in the real world.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EF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A16"/>
                </a:solidFill>
                <a:latin typeface="Arial" pitchFamily="34" charset="0"/>
                <a:ea typeface="Arial" pitchFamily="34" charset="-122"/>
                <a:cs typeface="Arial" pitchFamily="34" charset="-120"/>
              </a:rPr>
              <a:t>THE DATASET</a:t>
            </a:r>
            <a:endParaRPr lang="en-US" sz="1200" dirty="0"/>
          </a:p>
        </p:txBody>
      </p:sp>
      <p:sp>
        <p:nvSpPr>
          <p:cNvPr id="3" name="Text 1"/>
          <p:cNvSpPr>
            <a:spLocks noGrp="1"/>
          </p:cNvSpPr>
          <p:nvPr>
            <p:ph type="title"/>
          </p:nvPr>
        </p:nvSpPr>
        <p:spPr>
          <a:xfrm>
            <a:off x="812800" y="1102361"/>
            <a:ext cx="10883392" cy="458470"/>
          </a:xfrm>
          <a:prstGeom prst="rect">
            <a:avLst/>
          </a:prstGeom>
          <a:noFill/>
          <a:ln/>
        </p:spPr>
        <p:txBody>
          <a:bodyPr wrap="square" lIns="0" tIns="0" rIns="0" bIns="0" rtlCol="0" anchor="t">
            <a:normAutofit/>
          </a:bodyPr>
          <a:lstStyle/>
          <a:p>
            <a:pPr marL="0" indent="0" algn="l">
              <a:lnSpc>
                <a:spcPts val="3410"/>
              </a:lnSpc>
              <a:buNone/>
            </a:pPr>
            <a:r>
              <a:rPr lang="en-US" sz="3100" b="1" i="0" dirty="0">
                <a:solidFill>
                  <a:srgbClr val="3A2412"/>
                </a:solidFill>
                <a:latin typeface="Georgia" pitchFamily="18" charset="0"/>
                <a:ea typeface="Georgia" pitchFamily="18" charset="-122"/>
                <a:cs typeface="Georgia" pitchFamily="18" charset="-120"/>
              </a:rPr>
              <a:t>We build our own — no dataset exists</a:t>
            </a:r>
            <a:endParaRPr lang="en-US" sz="3100" dirty="0"/>
          </a:p>
        </p:txBody>
      </p:sp>
      <p:sp>
        <p:nvSpPr>
          <p:cNvPr id="4" name="Text 2"/>
          <p:cNvSpPr/>
          <p:nvPr/>
        </p:nvSpPr>
        <p:spPr>
          <a:xfrm>
            <a:off x="812800" y="1814832"/>
            <a:ext cx="1511300"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A4A12"/>
                </a:solidFill>
                <a:latin typeface="Arial" pitchFamily="34" charset="0"/>
                <a:ea typeface="Arial" pitchFamily="34" charset="-122"/>
                <a:cs typeface="Arial" pitchFamily="34" charset="-120"/>
              </a:rPr>
              <a:t>Pure treacle</a:t>
            </a:r>
            <a:endParaRPr lang="en-US" sz="1300" dirty="0"/>
          </a:p>
        </p:txBody>
      </p:sp>
      <p:sp>
        <p:nvSpPr>
          <p:cNvPr id="5" name="Text 3"/>
          <p:cNvSpPr/>
          <p:nvPr/>
        </p:nvSpPr>
        <p:spPr>
          <a:xfrm>
            <a:off x="2400300" y="1814832"/>
            <a:ext cx="4251325"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2412"/>
                </a:solidFill>
                <a:latin typeface="Arial" pitchFamily="34" charset="0"/>
                <a:ea typeface="Arial" pitchFamily="34" charset="-122"/>
                <a:cs typeface="Arial" pitchFamily="34" charset="-120"/>
              </a:rPr>
              <a:t>From trusted tappers, or via the Kithul Development Board</a:t>
            </a:r>
            <a:endParaRPr lang="en-US" sz="1300" dirty="0"/>
          </a:p>
        </p:txBody>
      </p:sp>
      <p:sp>
        <p:nvSpPr>
          <p:cNvPr id="6" name="Text 4"/>
          <p:cNvSpPr/>
          <p:nvPr/>
        </p:nvSpPr>
        <p:spPr>
          <a:xfrm>
            <a:off x="812800" y="2391411"/>
            <a:ext cx="15113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A4A12"/>
                </a:solidFill>
                <a:latin typeface="Arial" pitchFamily="34" charset="0"/>
                <a:ea typeface="Arial" pitchFamily="34" charset="-122"/>
                <a:cs typeface="Arial" pitchFamily="34" charset="-120"/>
              </a:rPr>
              <a:t>Market samples</a:t>
            </a:r>
            <a:endParaRPr lang="en-US" sz="1300" dirty="0"/>
          </a:p>
        </p:txBody>
      </p:sp>
      <p:sp>
        <p:nvSpPr>
          <p:cNvPr id="7" name="Text 5"/>
          <p:cNvSpPr/>
          <p:nvPr/>
        </p:nvSpPr>
        <p:spPr>
          <a:xfrm>
            <a:off x="2400300" y="2391411"/>
            <a:ext cx="425132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2412"/>
                </a:solidFill>
                <a:latin typeface="Arial" pitchFamily="34" charset="0"/>
                <a:ea typeface="Arial" pitchFamily="34" charset="-122"/>
                <a:cs typeface="Arial" pitchFamily="34" charset="-120"/>
              </a:rPr>
              <a:t>From shops, supermarkets and roadside sellers</a:t>
            </a:r>
            <a:endParaRPr lang="en-US" sz="1300" dirty="0"/>
          </a:p>
        </p:txBody>
      </p:sp>
      <p:sp>
        <p:nvSpPr>
          <p:cNvPr id="8" name="Text 6"/>
          <p:cNvSpPr/>
          <p:nvPr/>
        </p:nvSpPr>
        <p:spPr>
          <a:xfrm>
            <a:off x="812800" y="2736850"/>
            <a:ext cx="15113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A4A12"/>
                </a:solidFill>
                <a:latin typeface="Arial" pitchFamily="34" charset="0"/>
                <a:ea typeface="Arial" pitchFamily="34" charset="-122"/>
                <a:cs typeface="Arial" pitchFamily="34" charset="-120"/>
              </a:rPr>
              <a:t>Sugar syrup</a:t>
            </a:r>
            <a:endParaRPr lang="en-US" sz="1300" dirty="0"/>
          </a:p>
        </p:txBody>
      </p:sp>
      <p:sp>
        <p:nvSpPr>
          <p:cNvPr id="9" name="Text 7"/>
          <p:cNvSpPr/>
          <p:nvPr/>
        </p:nvSpPr>
        <p:spPr>
          <a:xfrm>
            <a:off x="2400300" y="2736850"/>
            <a:ext cx="425132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2412"/>
                </a:solidFill>
                <a:latin typeface="Arial" pitchFamily="34" charset="0"/>
                <a:ea typeface="Arial" pitchFamily="34" charset="-122"/>
                <a:cs typeface="Arial" pitchFamily="34" charset="-120"/>
              </a:rPr>
              <a:t>We make it ourselves, so we know the exact mix</a:t>
            </a:r>
            <a:endParaRPr lang="en-US" sz="1300" dirty="0"/>
          </a:p>
        </p:txBody>
      </p:sp>
      <p:sp>
        <p:nvSpPr>
          <p:cNvPr id="10" name="Text 8"/>
          <p:cNvSpPr/>
          <p:nvPr/>
        </p:nvSpPr>
        <p:spPr>
          <a:xfrm>
            <a:off x="812800" y="3082289"/>
            <a:ext cx="15113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A4A12"/>
                </a:solidFill>
                <a:latin typeface="Arial" pitchFamily="34" charset="0"/>
                <a:ea typeface="Arial" pitchFamily="34" charset="-122"/>
                <a:cs typeface="Arial" pitchFamily="34" charset="-120"/>
              </a:rPr>
              <a:t>Confirmed by</a:t>
            </a:r>
            <a:endParaRPr lang="en-US" sz="1300" dirty="0"/>
          </a:p>
        </p:txBody>
      </p:sp>
      <p:sp>
        <p:nvSpPr>
          <p:cNvPr id="11" name="Text 9"/>
          <p:cNvSpPr/>
          <p:nvPr/>
        </p:nvSpPr>
        <p:spPr>
          <a:xfrm>
            <a:off x="2400300" y="3082289"/>
            <a:ext cx="425132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2412"/>
                </a:solidFill>
                <a:latin typeface="Arial" pitchFamily="34" charset="0"/>
                <a:ea typeface="Arial" pitchFamily="34" charset="-122"/>
                <a:cs typeface="Arial" pitchFamily="34" charset="-120"/>
              </a:rPr>
              <a:t>A food lab — a university chemistry dept. or the ITI</a:t>
            </a:r>
            <a:endParaRPr lang="en-US" sz="1300" dirty="0"/>
          </a:p>
        </p:txBody>
      </p:sp>
      <p:sp>
        <p:nvSpPr>
          <p:cNvPr id="12" name="Text 10"/>
          <p:cNvSpPr/>
          <p:nvPr/>
        </p:nvSpPr>
        <p:spPr>
          <a:xfrm>
            <a:off x="812800" y="3427732"/>
            <a:ext cx="15113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A4A12"/>
                </a:solidFill>
                <a:latin typeface="Arial" pitchFamily="34" charset="0"/>
                <a:ea typeface="Arial" pitchFamily="34" charset="-122"/>
                <a:cs typeface="Arial" pitchFamily="34" charset="-120"/>
              </a:rPr>
              <a:t>Small-data help</a:t>
            </a:r>
            <a:endParaRPr lang="en-US" sz="1300" dirty="0"/>
          </a:p>
        </p:txBody>
      </p:sp>
      <p:sp>
        <p:nvSpPr>
          <p:cNvPr id="13" name="Text 11"/>
          <p:cNvSpPr/>
          <p:nvPr/>
        </p:nvSpPr>
        <p:spPr>
          <a:xfrm>
            <a:off x="2400300" y="3427732"/>
            <a:ext cx="425132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2412"/>
                </a:solidFill>
                <a:latin typeface="Arial" pitchFamily="34" charset="0"/>
                <a:ea typeface="Arial" pitchFamily="34" charset="-122"/>
                <a:cs typeface="Arial" pitchFamily="34" charset="-120"/>
              </a:rPr>
              <a:t>Transfer learning and data augmentation</a:t>
            </a:r>
            <a:endParaRPr lang="en-US" sz="1300" dirty="0"/>
          </a:p>
        </p:txBody>
      </p:sp>
      <p:sp>
        <p:nvSpPr>
          <p:cNvPr id="14" name="Shape 12"/>
          <p:cNvSpPr/>
          <p:nvPr/>
        </p:nvSpPr>
        <p:spPr>
          <a:xfrm>
            <a:off x="6883400" y="1814832"/>
            <a:ext cx="4495800" cy="962660"/>
          </a:xfrm>
          <a:prstGeom prst="roundRect">
            <a:avLst>
              <a:gd name="adj" fmla="val 13193"/>
            </a:avLst>
          </a:prstGeom>
          <a:solidFill>
            <a:srgbClr val="3A2412"/>
          </a:solidFill>
          <a:ln/>
        </p:spPr>
        <p:txBody>
          <a:bodyPr/>
          <a:lstStyle/>
          <a:p>
            <a:endParaRPr lang="en-US"/>
          </a:p>
        </p:txBody>
      </p:sp>
      <p:sp>
        <p:nvSpPr>
          <p:cNvPr id="15" name="Text 13"/>
          <p:cNvSpPr/>
          <p:nvPr/>
        </p:nvSpPr>
        <p:spPr>
          <a:xfrm>
            <a:off x="7099300" y="2030732"/>
            <a:ext cx="41859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C6A8"/>
                </a:solidFill>
                <a:latin typeface="Arial" pitchFamily="34" charset="0"/>
                <a:ea typeface="Arial" pitchFamily="34" charset="-122"/>
                <a:cs typeface="Arial" pitchFamily="34" charset="-120"/>
              </a:rPr>
              <a:t>Mixing levels</a:t>
            </a:r>
            <a:endParaRPr lang="en-US" sz="1200" dirty="0"/>
          </a:p>
        </p:txBody>
      </p:sp>
      <p:sp>
        <p:nvSpPr>
          <p:cNvPr id="16" name="Text 14"/>
          <p:cNvSpPr/>
          <p:nvPr/>
        </p:nvSpPr>
        <p:spPr>
          <a:xfrm>
            <a:off x="7099300" y="2282189"/>
            <a:ext cx="4185920"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F6EFE1"/>
                </a:solidFill>
                <a:latin typeface="Georgia" pitchFamily="18" charset="0"/>
                <a:ea typeface="Georgia" pitchFamily="18" charset="-122"/>
                <a:cs typeface="Georgia" pitchFamily="18" charset="-120"/>
              </a:rPr>
              <a:t>0 · 5 · 10 · 15 · 20 · 30 · 50%</a:t>
            </a:r>
            <a:endParaRPr lang="en-US" sz="2000" dirty="0"/>
          </a:p>
        </p:txBody>
      </p:sp>
      <p:sp>
        <p:nvSpPr>
          <p:cNvPr id="17" name="Shape 15"/>
          <p:cNvSpPr/>
          <p:nvPr/>
        </p:nvSpPr>
        <p:spPr>
          <a:xfrm>
            <a:off x="6886575" y="2920364"/>
            <a:ext cx="4489450" cy="1285240"/>
          </a:xfrm>
          <a:prstGeom prst="roundRect">
            <a:avLst>
              <a:gd name="adj" fmla="val 9634"/>
            </a:avLst>
          </a:prstGeom>
          <a:solidFill>
            <a:srgbClr val="FCF7EC"/>
          </a:solidFill>
          <a:ln w="6350">
            <a:solidFill>
              <a:srgbClr val="E4D6BC"/>
            </a:solidFill>
            <a:prstDash val="solid"/>
          </a:ln>
        </p:spPr>
        <p:txBody>
          <a:bodyPr/>
          <a:lstStyle/>
          <a:p>
            <a:endParaRPr lang="en-US"/>
          </a:p>
        </p:txBody>
      </p:sp>
      <p:sp>
        <p:nvSpPr>
          <p:cNvPr id="18" name="Text 16"/>
          <p:cNvSpPr/>
          <p:nvPr/>
        </p:nvSpPr>
        <p:spPr>
          <a:xfrm>
            <a:off x="7104380" y="3138171"/>
            <a:ext cx="41754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4A12"/>
                </a:solidFill>
                <a:latin typeface="Arial" pitchFamily="34" charset="0"/>
                <a:ea typeface="Arial" pitchFamily="34" charset="-122"/>
                <a:cs typeface="Arial" pitchFamily="34" charset="-120"/>
              </a:rPr>
              <a:t>Roughly</a:t>
            </a:r>
            <a:endParaRPr lang="en-US" sz="1200" dirty="0"/>
          </a:p>
        </p:txBody>
      </p:sp>
      <p:sp>
        <p:nvSpPr>
          <p:cNvPr id="19" name="Text 17"/>
          <p:cNvSpPr/>
          <p:nvPr/>
        </p:nvSpPr>
        <p:spPr>
          <a:xfrm>
            <a:off x="7104380" y="3389632"/>
            <a:ext cx="4175455" cy="372110"/>
          </a:xfrm>
          <a:prstGeom prst="rect">
            <a:avLst/>
          </a:prstGeom>
          <a:noFill/>
          <a:ln/>
        </p:spPr>
        <p:txBody>
          <a:bodyPr wrap="square" lIns="0" tIns="0" rIns="0" bIns="0" rtlCol="0" anchor="t">
            <a:normAutofit/>
          </a:bodyPr>
          <a:lstStyle/>
          <a:p>
            <a:pPr marL="0" indent="0" algn="l">
              <a:lnSpc>
                <a:spcPts val="2730"/>
              </a:lnSpc>
              <a:buNone/>
            </a:pPr>
            <a:r>
              <a:rPr lang="en-US" sz="2600" b="1" dirty="0">
                <a:solidFill>
                  <a:srgbClr val="3A2412"/>
                </a:solidFill>
                <a:latin typeface="Georgia" pitchFamily="18" charset="0"/>
                <a:ea typeface="Georgia" pitchFamily="18" charset="-122"/>
                <a:cs typeface="Georgia" pitchFamily="18" charset="-120"/>
              </a:rPr>
              <a:t>400–1,300</a:t>
            </a:r>
            <a:endParaRPr lang="en-US" sz="2600" dirty="0"/>
          </a:p>
        </p:txBody>
      </p:sp>
      <p:sp>
        <p:nvSpPr>
          <p:cNvPr id="20" name="Text 18"/>
          <p:cNvSpPr/>
          <p:nvPr/>
        </p:nvSpPr>
        <p:spPr>
          <a:xfrm>
            <a:off x="7104380" y="3774439"/>
            <a:ext cx="41754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3420"/>
                </a:solidFill>
                <a:latin typeface="Arial" pitchFamily="34" charset="0"/>
                <a:ea typeface="Arial" pitchFamily="34" charset="-122"/>
                <a:cs typeface="Arial" pitchFamily="34" charset="-120"/>
              </a:rPr>
              <a:t>measurements per method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E3C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A16"/>
                </a:solidFill>
                <a:latin typeface="Arial" pitchFamily="34" charset="0"/>
                <a:ea typeface="Arial" pitchFamily="34" charset="-122"/>
                <a:cs typeface="Arial" pitchFamily="34" charset="-120"/>
              </a:rPr>
              <a:t>THE TEAM</a:t>
            </a:r>
            <a:endParaRPr lang="en-US" sz="1200" dirty="0"/>
          </a:p>
        </p:txBody>
      </p:sp>
      <p:sp>
        <p:nvSpPr>
          <p:cNvPr id="3" name="Text 1"/>
          <p:cNvSpPr>
            <a:spLocks noGrp="1"/>
          </p:cNvSpPr>
          <p:nvPr>
            <p:ph type="title"/>
          </p:nvPr>
        </p:nvSpPr>
        <p:spPr>
          <a:xfrm>
            <a:off x="812800" y="1102364"/>
            <a:ext cx="10883392" cy="458470"/>
          </a:xfrm>
          <a:prstGeom prst="rect">
            <a:avLst/>
          </a:prstGeom>
          <a:noFill/>
          <a:ln/>
        </p:spPr>
        <p:txBody>
          <a:bodyPr wrap="square" lIns="0" tIns="0" rIns="0" bIns="0" rtlCol="0" anchor="t">
            <a:normAutofit/>
          </a:bodyPr>
          <a:lstStyle/>
          <a:p>
            <a:pPr marL="0" indent="0" algn="l">
              <a:lnSpc>
                <a:spcPts val="3410"/>
              </a:lnSpc>
              <a:buNone/>
            </a:pPr>
            <a:r>
              <a:rPr lang="en-US" sz="3100" b="1" i="0" dirty="0">
                <a:solidFill>
                  <a:srgbClr val="3A2412"/>
                </a:solidFill>
                <a:latin typeface="Georgia" pitchFamily="18" charset="0"/>
                <a:ea typeface="Georgia" pitchFamily="18" charset="-122"/>
                <a:cs typeface="Georgia" pitchFamily="18" charset="-120"/>
              </a:rPr>
              <a:t>One method each, tested on the same samples</a:t>
            </a:r>
            <a:endParaRPr lang="en-US" sz="3100" dirty="0"/>
          </a:p>
        </p:txBody>
      </p:sp>
      <p:sp>
        <p:nvSpPr>
          <p:cNvPr id="4" name="Shape 2"/>
          <p:cNvSpPr/>
          <p:nvPr/>
        </p:nvSpPr>
        <p:spPr>
          <a:xfrm>
            <a:off x="815975" y="1818004"/>
            <a:ext cx="3397250" cy="2420620"/>
          </a:xfrm>
          <a:prstGeom prst="roundRect">
            <a:avLst>
              <a:gd name="adj" fmla="val 5640"/>
            </a:avLst>
          </a:prstGeom>
          <a:solidFill>
            <a:srgbClr val="FCF7EC"/>
          </a:solidFill>
          <a:ln w="6350">
            <a:solidFill>
              <a:srgbClr val="E4D6BC"/>
            </a:solidFill>
            <a:prstDash val="solid"/>
          </a:ln>
        </p:spPr>
        <p:txBody>
          <a:bodyPr/>
          <a:lstStyle/>
          <a:p>
            <a:endParaRPr lang="en-US"/>
          </a:p>
        </p:txBody>
      </p:sp>
      <p:sp>
        <p:nvSpPr>
          <p:cNvPr id="5" name="Text 3"/>
          <p:cNvSpPr/>
          <p:nvPr/>
        </p:nvSpPr>
        <p:spPr>
          <a:xfrm>
            <a:off x="1071880" y="2073914"/>
            <a:ext cx="297200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731A"/>
                </a:solidFill>
                <a:latin typeface="Arial" pitchFamily="34" charset="0"/>
                <a:ea typeface="Arial" pitchFamily="34" charset="-122"/>
                <a:cs typeface="Arial" pitchFamily="34" charset="-120"/>
              </a:rPr>
              <a:t>MEMBER 1</a:t>
            </a:r>
            <a:endParaRPr lang="en-US" sz="1200" dirty="0"/>
          </a:p>
        </p:txBody>
      </p:sp>
      <p:pic>
        <p:nvPicPr>
          <p:cNvPr id="6" name="Image 0" descr="Search"/>
          <p:cNvPicPr>
            <a:picLocks noChangeAspect="1"/>
          </p:cNvPicPr>
          <p:nvPr/>
        </p:nvPicPr>
        <p:blipFill>
          <a:blip r:embed="rId3"/>
          <a:srcRect/>
          <a:stretch/>
        </p:blipFill>
        <p:spPr>
          <a:xfrm>
            <a:off x="1071880" y="2388871"/>
            <a:ext cx="355600" cy="355600"/>
          </a:xfrm>
          <a:prstGeom prst="rect">
            <a:avLst/>
          </a:prstGeom>
        </p:spPr>
      </p:pic>
      <p:sp>
        <p:nvSpPr>
          <p:cNvPr id="7" name="Text 4"/>
          <p:cNvSpPr/>
          <p:nvPr/>
        </p:nvSpPr>
        <p:spPr>
          <a:xfrm>
            <a:off x="1071880" y="2846071"/>
            <a:ext cx="2972003" cy="290830"/>
          </a:xfrm>
          <a:prstGeom prst="rect">
            <a:avLst/>
          </a:prstGeom>
          <a:noFill/>
          <a:ln/>
        </p:spPr>
        <p:txBody>
          <a:bodyPr wrap="square" lIns="0" tIns="0" rIns="0" bIns="0" rtlCol="0" anchor="t">
            <a:normAutofit/>
          </a:bodyPr>
          <a:lstStyle/>
          <a:p>
            <a:pPr marL="0" indent="0" algn="l">
              <a:lnSpc>
                <a:spcPts val="2090"/>
              </a:lnSpc>
              <a:buNone/>
            </a:pPr>
            <a:r>
              <a:rPr lang="en-US" sz="1900" b="1" dirty="0">
                <a:solidFill>
                  <a:srgbClr val="3A2412"/>
                </a:solidFill>
                <a:latin typeface="Georgia" pitchFamily="18" charset="0"/>
                <a:ea typeface="Georgia" pitchFamily="18" charset="-122"/>
                <a:cs typeface="Georgia" pitchFamily="18" charset="-120"/>
              </a:rPr>
              <a:t>Phone camera</a:t>
            </a:r>
            <a:endParaRPr lang="en-US" sz="1900" dirty="0"/>
          </a:p>
        </p:txBody>
      </p:sp>
      <p:sp>
        <p:nvSpPr>
          <p:cNvPr id="8" name="Text 5"/>
          <p:cNvSpPr/>
          <p:nvPr/>
        </p:nvSpPr>
        <p:spPr>
          <a:xfrm>
            <a:off x="1071880" y="3213100"/>
            <a:ext cx="297200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420"/>
                </a:solidFill>
                <a:latin typeface="Arial" pitchFamily="34" charset="0"/>
                <a:ea typeface="Arial" pitchFamily="34" charset="-122"/>
                <a:cs typeface="Arial" pitchFamily="34" charset="-120"/>
              </a:rPr>
              <a:t>Images and flow videos from an ordinary smartphone.</a:t>
            </a:r>
            <a:endParaRPr lang="en-US" sz="1300" dirty="0"/>
          </a:p>
        </p:txBody>
      </p:sp>
      <p:sp>
        <p:nvSpPr>
          <p:cNvPr id="9" name="Text 6"/>
          <p:cNvSpPr/>
          <p:nvPr/>
        </p:nvSpPr>
        <p:spPr>
          <a:xfrm>
            <a:off x="1071880" y="3776979"/>
            <a:ext cx="2972003"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E5636"/>
                </a:solidFill>
                <a:latin typeface="Arial" pitchFamily="34" charset="0"/>
                <a:ea typeface="Arial" pitchFamily="34" charset="-122"/>
                <a:cs typeface="Arial" pitchFamily="34" charset="-120"/>
              </a:rPr>
              <a:t>→ A phone-app test for consumers</a:t>
            </a:r>
            <a:endParaRPr lang="en-US" sz="1200" dirty="0"/>
          </a:p>
        </p:txBody>
      </p:sp>
      <p:sp>
        <p:nvSpPr>
          <p:cNvPr id="10" name="Shape 7"/>
          <p:cNvSpPr/>
          <p:nvPr/>
        </p:nvSpPr>
        <p:spPr>
          <a:xfrm>
            <a:off x="4397375" y="1818004"/>
            <a:ext cx="3397250" cy="2420620"/>
          </a:xfrm>
          <a:prstGeom prst="roundRect">
            <a:avLst>
              <a:gd name="adj" fmla="val 5640"/>
            </a:avLst>
          </a:prstGeom>
          <a:solidFill>
            <a:srgbClr val="FCF7EC"/>
          </a:solidFill>
          <a:ln w="6350">
            <a:solidFill>
              <a:srgbClr val="E4D6BC"/>
            </a:solidFill>
            <a:prstDash val="solid"/>
          </a:ln>
        </p:spPr>
        <p:txBody>
          <a:bodyPr/>
          <a:lstStyle/>
          <a:p>
            <a:endParaRPr lang="en-US"/>
          </a:p>
        </p:txBody>
      </p:sp>
      <p:sp>
        <p:nvSpPr>
          <p:cNvPr id="11" name="Text 8"/>
          <p:cNvSpPr/>
          <p:nvPr/>
        </p:nvSpPr>
        <p:spPr>
          <a:xfrm>
            <a:off x="4653280" y="2073914"/>
            <a:ext cx="297200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A4A12"/>
                </a:solidFill>
                <a:latin typeface="Arial" pitchFamily="34" charset="0"/>
                <a:ea typeface="Arial" pitchFamily="34" charset="-122"/>
                <a:cs typeface="Arial" pitchFamily="34" charset="-120"/>
              </a:rPr>
              <a:t>MEMBER 2</a:t>
            </a:r>
            <a:endParaRPr lang="en-US" sz="1200" dirty="0"/>
          </a:p>
        </p:txBody>
      </p:sp>
      <p:pic>
        <p:nvPicPr>
          <p:cNvPr id="12" name="Image 1" descr="Settings"/>
          <p:cNvPicPr>
            <a:picLocks noChangeAspect="1"/>
          </p:cNvPicPr>
          <p:nvPr/>
        </p:nvPicPr>
        <p:blipFill>
          <a:blip r:embed="rId4"/>
          <a:srcRect/>
          <a:stretch/>
        </p:blipFill>
        <p:spPr>
          <a:xfrm>
            <a:off x="4653280" y="2388871"/>
            <a:ext cx="355600" cy="355600"/>
          </a:xfrm>
          <a:prstGeom prst="rect">
            <a:avLst/>
          </a:prstGeom>
        </p:spPr>
      </p:pic>
      <p:sp>
        <p:nvSpPr>
          <p:cNvPr id="13" name="Text 9"/>
          <p:cNvSpPr/>
          <p:nvPr/>
        </p:nvSpPr>
        <p:spPr>
          <a:xfrm>
            <a:off x="4653280" y="2846071"/>
            <a:ext cx="2972003" cy="290830"/>
          </a:xfrm>
          <a:prstGeom prst="rect">
            <a:avLst/>
          </a:prstGeom>
          <a:noFill/>
          <a:ln/>
        </p:spPr>
        <p:txBody>
          <a:bodyPr wrap="square" lIns="0" tIns="0" rIns="0" bIns="0" rtlCol="0" anchor="t">
            <a:normAutofit/>
          </a:bodyPr>
          <a:lstStyle/>
          <a:p>
            <a:pPr marL="0" indent="0" algn="l">
              <a:lnSpc>
                <a:spcPts val="2090"/>
              </a:lnSpc>
              <a:buNone/>
            </a:pPr>
            <a:r>
              <a:rPr lang="en-US" sz="1900" b="1" dirty="0">
                <a:solidFill>
                  <a:srgbClr val="3A2412"/>
                </a:solidFill>
                <a:latin typeface="Georgia" pitchFamily="18" charset="0"/>
                <a:ea typeface="Georgia" pitchFamily="18" charset="-122"/>
                <a:cs typeface="Georgia" pitchFamily="18" charset="-120"/>
              </a:rPr>
              <a:t>Sensor device</a:t>
            </a:r>
            <a:endParaRPr lang="en-US" sz="1900" dirty="0"/>
          </a:p>
        </p:txBody>
      </p:sp>
      <p:sp>
        <p:nvSpPr>
          <p:cNvPr id="14" name="Text 10"/>
          <p:cNvSpPr/>
          <p:nvPr/>
        </p:nvSpPr>
        <p:spPr>
          <a:xfrm>
            <a:off x="4653280" y="3213100"/>
            <a:ext cx="297200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420"/>
                </a:solidFill>
                <a:latin typeface="Arial" pitchFamily="34" charset="0"/>
                <a:ea typeface="Arial" pitchFamily="34" charset="-122"/>
                <a:cs typeface="Arial" pitchFamily="34" charset="-120"/>
              </a:rPr>
              <a:t>A cheap handheld light + conductivity tester.</a:t>
            </a:r>
            <a:endParaRPr lang="en-US" sz="1300" dirty="0"/>
          </a:p>
        </p:txBody>
      </p:sp>
      <p:sp>
        <p:nvSpPr>
          <p:cNvPr id="15" name="Text 11"/>
          <p:cNvSpPr/>
          <p:nvPr/>
        </p:nvSpPr>
        <p:spPr>
          <a:xfrm>
            <a:off x="4653280" y="3776979"/>
            <a:ext cx="2972003"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E5636"/>
                </a:solidFill>
                <a:latin typeface="Arial" pitchFamily="34" charset="0"/>
                <a:ea typeface="Arial" pitchFamily="34" charset="-122"/>
                <a:cs typeface="Arial" pitchFamily="34" charset="-120"/>
              </a:rPr>
              <a:t>→ A pocket tester for shops</a:t>
            </a:r>
            <a:endParaRPr lang="en-US" sz="1200" dirty="0"/>
          </a:p>
        </p:txBody>
      </p:sp>
      <p:sp>
        <p:nvSpPr>
          <p:cNvPr id="16" name="Shape 12"/>
          <p:cNvSpPr/>
          <p:nvPr/>
        </p:nvSpPr>
        <p:spPr>
          <a:xfrm>
            <a:off x="7978775" y="1818004"/>
            <a:ext cx="3397250" cy="2420620"/>
          </a:xfrm>
          <a:prstGeom prst="roundRect">
            <a:avLst>
              <a:gd name="adj" fmla="val 5640"/>
            </a:avLst>
          </a:prstGeom>
          <a:solidFill>
            <a:srgbClr val="FCF7EC"/>
          </a:solidFill>
          <a:ln w="6350">
            <a:solidFill>
              <a:srgbClr val="E4D6BC"/>
            </a:solidFill>
            <a:prstDash val="solid"/>
          </a:ln>
        </p:spPr>
        <p:txBody>
          <a:bodyPr/>
          <a:lstStyle/>
          <a:p>
            <a:endParaRPr lang="en-US"/>
          </a:p>
        </p:txBody>
      </p:sp>
      <p:sp>
        <p:nvSpPr>
          <p:cNvPr id="17" name="Text 13"/>
          <p:cNvSpPr/>
          <p:nvPr/>
        </p:nvSpPr>
        <p:spPr>
          <a:xfrm>
            <a:off x="8234680" y="2073914"/>
            <a:ext cx="297200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E7A4A"/>
                </a:solidFill>
                <a:latin typeface="Arial" pitchFamily="34" charset="0"/>
                <a:ea typeface="Arial" pitchFamily="34" charset="-122"/>
                <a:cs typeface="Arial" pitchFamily="34" charset="-120"/>
              </a:rPr>
              <a:t>MEMBER 3</a:t>
            </a:r>
            <a:endParaRPr lang="en-US" sz="1200" dirty="0"/>
          </a:p>
        </p:txBody>
      </p:sp>
      <p:pic>
        <p:nvPicPr>
          <p:cNvPr id="18" name="Image 2" descr="Activity"/>
          <p:cNvPicPr>
            <a:picLocks noChangeAspect="1"/>
          </p:cNvPicPr>
          <p:nvPr/>
        </p:nvPicPr>
        <p:blipFill>
          <a:blip r:embed="rId5"/>
          <a:srcRect/>
          <a:stretch/>
        </p:blipFill>
        <p:spPr>
          <a:xfrm>
            <a:off x="8234680" y="2388871"/>
            <a:ext cx="355600" cy="355600"/>
          </a:xfrm>
          <a:prstGeom prst="rect">
            <a:avLst/>
          </a:prstGeom>
        </p:spPr>
      </p:pic>
      <p:sp>
        <p:nvSpPr>
          <p:cNvPr id="19" name="Text 14"/>
          <p:cNvSpPr/>
          <p:nvPr/>
        </p:nvSpPr>
        <p:spPr>
          <a:xfrm>
            <a:off x="8234680" y="2846071"/>
            <a:ext cx="2972003" cy="290830"/>
          </a:xfrm>
          <a:prstGeom prst="rect">
            <a:avLst/>
          </a:prstGeom>
          <a:noFill/>
          <a:ln/>
        </p:spPr>
        <p:txBody>
          <a:bodyPr wrap="square" lIns="0" tIns="0" rIns="0" bIns="0" rtlCol="0" anchor="t">
            <a:normAutofit/>
          </a:bodyPr>
          <a:lstStyle/>
          <a:p>
            <a:pPr marL="0" indent="0" algn="l">
              <a:lnSpc>
                <a:spcPts val="2090"/>
              </a:lnSpc>
              <a:buNone/>
            </a:pPr>
            <a:r>
              <a:rPr lang="en-US" sz="1900" b="1" dirty="0">
                <a:solidFill>
                  <a:srgbClr val="3A2412"/>
                </a:solidFill>
                <a:latin typeface="Georgia" pitchFamily="18" charset="0"/>
                <a:ea typeface="Georgia" pitchFamily="18" charset="-122"/>
                <a:cs typeface="Georgia" pitchFamily="18" charset="-120"/>
              </a:rPr>
              <a:t>Thermal + fusion</a:t>
            </a:r>
            <a:endParaRPr lang="en-US" sz="1900" dirty="0"/>
          </a:p>
        </p:txBody>
      </p:sp>
      <p:sp>
        <p:nvSpPr>
          <p:cNvPr id="20" name="Text 15"/>
          <p:cNvSpPr/>
          <p:nvPr/>
        </p:nvSpPr>
        <p:spPr>
          <a:xfrm>
            <a:off x="8234680" y="3213100"/>
            <a:ext cx="297200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420"/>
                </a:solidFill>
                <a:latin typeface="Arial" pitchFamily="34" charset="0"/>
                <a:ea typeface="Arial" pitchFamily="34" charset="-122"/>
                <a:cs typeface="Arial" pitchFamily="34" charset="-120"/>
              </a:rPr>
              <a:t>Heat-pattern test, plus the combined model.</a:t>
            </a:r>
            <a:endParaRPr lang="en-US" sz="1300" dirty="0"/>
          </a:p>
        </p:txBody>
      </p:sp>
      <p:sp>
        <p:nvSpPr>
          <p:cNvPr id="21" name="Text 16"/>
          <p:cNvSpPr/>
          <p:nvPr/>
        </p:nvSpPr>
        <p:spPr>
          <a:xfrm>
            <a:off x="8234680" y="3776979"/>
            <a:ext cx="2972003"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E5636"/>
                </a:solidFill>
                <a:latin typeface="Arial" pitchFamily="34" charset="0"/>
                <a:ea typeface="Arial" pitchFamily="34" charset="-122"/>
                <a:cs typeface="Arial" pitchFamily="34" charset="-120"/>
              </a:rPr>
              <a:t>→ The most accurate system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EFE1"/>
        </a:solidFill>
        <a:effectLst/>
      </p:bgPr>
    </p:bg>
    <p:spTree>
      <p:nvGrpSpPr>
        <p:cNvPr id="1" name=""/>
        <p:cNvGrpSpPr/>
        <p:nvPr/>
      </p:nvGrpSpPr>
      <p:grpSpPr>
        <a:xfrm>
          <a:off x="0" y="0"/>
          <a:ext cx="0" cy="0"/>
          <a:chOff x="0" y="0"/>
          <a:chExt cx="0" cy="0"/>
        </a:xfrm>
      </p:grpSpPr>
      <p:sp>
        <p:nvSpPr>
          <p:cNvPr id="2" name="Text 0"/>
          <p:cNvSpPr/>
          <p:nvPr/>
        </p:nvSpPr>
        <p:spPr>
          <a:xfrm>
            <a:off x="812800" y="812800"/>
            <a:ext cx="636300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731A"/>
                </a:solidFill>
                <a:latin typeface="Arial" pitchFamily="34" charset="0"/>
                <a:ea typeface="Arial" pitchFamily="34" charset="-122"/>
                <a:cs typeface="Arial" pitchFamily="34" charset="-120"/>
              </a:rPr>
              <a:t>MEMBER 1 · PHONE CAMERA</a:t>
            </a:r>
            <a:endParaRPr lang="en-US" sz="1200" dirty="0"/>
          </a:p>
        </p:txBody>
      </p:sp>
      <p:sp>
        <p:nvSpPr>
          <p:cNvPr id="3" name="Text 1"/>
          <p:cNvSpPr>
            <a:spLocks noGrp="1"/>
          </p:cNvSpPr>
          <p:nvPr>
            <p:ph type="title"/>
          </p:nvPr>
        </p:nvSpPr>
        <p:spPr>
          <a:xfrm>
            <a:off x="812800" y="1102364"/>
            <a:ext cx="741321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3A2412"/>
                </a:solidFill>
                <a:latin typeface="Georgia" pitchFamily="18" charset="0"/>
                <a:ea typeface="Georgia" pitchFamily="18" charset="-122"/>
                <a:cs typeface="Georgia" pitchFamily="18" charset="-120"/>
              </a:rPr>
              <a:t>Can a smartphone catch a fake?</a:t>
            </a:r>
            <a:endParaRPr lang="en-US" sz="3000" dirty="0"/>
          </a:p>
        </p:txBody>
      </p:sp>
      <p:pic>
        <p:nvPicPr>
          <p:cNvPr id="4" name="Image 0" descr="Search"/>
          <p:cNvPicPr>
            <a:picLocks noChangeAspect="1"/>
          </p:cNvPicPr>
          <p:nvPr/>
        </p:nvPicPr>
        <p:blipFill>
          <a:blip r:embed="rId3"/>
          <a:srcRect/>
          <a:stretch/>
        </p:blipFill>
        <p:spPr>
          <a:xfrm>
            <a:off x="10807700" y="949964"/>
            <a:ext cx="571500" cy="571500"/>
          </a:xfrm>
          <a:prstGeom prst="rect">
            <a:avLst/>
          </a:prstGeom>
        </p:spPr>
      </p:pic>
      <p:sp>
        <p:nvSpPr>
          <p:cNvPr id="5" name="Text 2"/>
          <p:cNvSpPr/>
          <p:nvPr/>
        </p:nvSpPr>
        <p:spPr>
          <a:xfrm>
            <a:off x="812800" y="1775464"/>
            <a:ext cx="531088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A4A12"/>
                </a:solidFill>
                <a:latin typeface="Arial" pitchFamily="34" charset="0"/>
                <a:ea typeface="Arial" pitchFamily="34" charset="-122"/>
                <a:cs typeface="Arial" pitchFamily="34" charset="-120"/>
              </a:rPr>
              <a:t>What it does</a:t>
            </a:r>
            <a:endParaRPr lang="en-US" sz="1300" dirty="0"/>
          </a:p>
        </p:txBody>
      </p:sp>
      <p:sp>
        <p:nvSpPr>
          <p:cNvPr id="6" name="Text 3"/>
          <p:cNvSpPr/>
          <p:nvPr/>
        </p:nvSpPr>
        <p:spPr>
          <a:xfrm>
            <a:off x="910844" y="2120900"/>
            <a:ext cx="5205222" cy="982980"/>
          </a:xfrm>
          <a:prstGeom prst="rect">
            <a:avLst/>
          </a:prstGeom>
          <a:noFill/>
          <a:ln/>
        </p:spPr>
        <p:txBody>
          <a:bodyPr wrap="square" lIns="0" tIns="0" rIns="0" bIns="0" rtlCol="0" anchor="t">
            <a:normAutofit/>
          </a:bodyPr>
          <a:lstStyle/>
          <a:p>
            <a:pPr marL="155956" indent="-155956" algn="l">
              <a:lnSpc>
                <a:spcPts val="1885"/>
              </a:lnSpc>
              <a:buSzPct val="100000"/>
              <a:buChar char="•"/>
            </a:pPr>
            <a:r>
              <a:rPr lang="en-US" sz="1300" dirty="0">
                <a:solidFill>
                  <a:srgbClr val="3A2412"/>
                </a:solidFill>
                <a:latin typeface="Arial" pitchFamily="34" charset="0"/>
                <a:ea typeface="Arial" pitchFamily="34" charset="-122"/>
                <a:cs typeface="Arial" pitchFamily="34" charset="-120"/>
              </a:rPr>
              <a:t>A small light box keeps the lighting the same every time</a:t>
            </a:r>
            <a:endParaRPr lang="en-US" sz="1300" dirty="0"/>
          </a:p>
          <a:p>
            <a:pPr marL="155956" indent="-155956" algn="l">
              <a:lnSpc>
                <a:spcPts val="1885"/>
              </a:lnSpc>
              <a:buSzPct val="100000"/>
              <a:buChar char="•"/>
            </a:pPr>
            <a:r>
              <a:rPr lang="en-US" sz="1300" dirty="0">
                <a:solidFill>
                  <a:srgbClr val="3A2412"/>
                </a:solidFill>
                <a:latin typeface="Arial" pitchFamily="34" charset="0"/>
                <a:ea typeface="Arial" pitchFamily="34" charset="-122"/>
                <a:cs typeface="Arial" pitchFamily="34" charset="-120"/>
              </a:rPr>
              <a:t>Photos measure </a:t>
            </a:r>
            <a:r>
              <a:rPr lang="en-US" sz="1300" b="1" dirty="0">
                <a:solidFill>
                  <a:srgbClr val="3A2412"/>
                </a:solidFill>
                <a:latin typeface="Arial" pitchFamily="34" charset="0"/>
                <a:ea typeface="Arial" pitchFamily="34" charset="-122"/>
                <a:cs typeface="Arial" pitchFamily="34" charset="-120"/>
              </a:rPr>
              <a:t>colour</a:t>
            </a:r>
            <a:r>
              <a:rPr lang="en-US" sz="1300" dirty="0">
                <a:solidFill>
                  <a:srgbClr val="3A2412"/>
                </a:solidFill>
                <a:latin typeface="Arial" pitchFamily="34" charset="0"/>
                <a:ea typeface="Arial" pitchFamily="34" charset="-122"/>
                <a:cs typeface="Arial" pitchFamily="34" charset="-120"/>
              </a:rPr>
              <a:t> and </a:t>
            </a:r>
            <a:r>
              <a:rPr lang="en-US" sz="1300" b="1" dirty="0">
                <a:solidFill>
                  <a:srgbClr val="3A2412"/>
                </a:solidFill>
                <a:latin typeface="Arial" pitchFamily="34" charset="0"/>
                <a:ea typeface="Arial" pitchFamily="34" charset="-122"/>
                <a:cs typeface="Arial" pitchFamily="34" charset="-120"/>
              </a:rPr>
              <a:t>clarity</a:t>
            </a:r>
            <a:endParaRPr lang="en-US" sz="1300" dirty="0"/>
          </a:p>
          <a:p>
            <a:pPr marL="155956" indent="-155956" algn="l">
              <a:lnSpc>
                <a:spcPts val="1885"/>
              </a:lnSpc>
              <a:buSzPct val="100000"/>
              <a:buChar char="•"/>
            </a:pPr>
            <a:r>
              <a:rPr lang="en-US" sz="1300" dirty="0">
                <a:solidFill>
                  <a:srgbClr val="3A2412"/>
                </a:solidFill>
                <a:latin typeface="Arial" pitchFamily="34" charset="0"/>
                <a:ea typeface="Arial" pitchFamily="34" charset="-122"/>
                <a:cs typeface="Arial" pitchFamily="34" charset="-120"/>
              </a:rPr>
              <a:t>Flow videos show </a:t>
            </a:r>
            <a:r>
              <a:rPr lang="en-US" sz="1300" b="1" dirty="0">
                <a:solidFill>
                  <a:srgbClr val="3A2412"/>
                </a:solidFill>
                <a:latin typeface="Arial" pitchFamily="34" charset="0"/>
                <a:ea typeface="Arial" pitchFamily="34" charset="-122"/>
                <a:cs typeface="Arial" pitchFamily="34" charset="-120"/>
              </a:rPr>
              <a:t>thickness</a:t>
            </a:r>
            <a:r>
              <a:rPr lang="en-US" sz="1300" dirty="0">
                <a:solidFill>
                  <a:srgbClr val="3A2412"/>
                </a:solidFill>
                <a:latin typeface="Arial" pitchFamily="34" charset="0"/>
                <a:ea typeface="Arial" pitchFamily="34" charset="-122"/>
                <a:cs typeface="Arial" pitchFamily="34" charset="-120"/>
              </a:rPr>
              <a:t> — sugar changes how it drips</a:t>
            </a:r>
            <a:endParaRPr lang="en-US" sz="1300" dirty="0"/>
          </a:p>
          <a:p>
            <a:pPr marL="155956" indent="-155956" algn="l">
              <a:lnSpc>
                <a:spcPts val="1885"/>
              </a:lnSpc>
              <a:buSzPct val="100000"/>
              <a:buChar char="•"/>
            </a:pPr>
            <a:r>
              <a:rPr lang="en-US" sz="1300" dirty="0">
                <a:solidFill>
                  <a:srgbClr val="3A2412"/>
                </a:solidFill>
                <a:latin typeface="Arial" pitchFamily="34" charset="0"/>
                <a:ea typeface="Arial" pitchFamily="34" charset="-122"/>
                <a:cs typeface="Arial" pitchFamily="34" charset="-120"/>
              </a:rPr>
              <a:t>Computer vision tracks the drop’s speed and spread</a:t>
            </a:r>
            <a:endParaRPr lang="en-US" sz="1300" dirty="0"/>
          </a:p>
        </p:txBody>
      </p:sp>
      <p:sp>
        <p:nvSpPr>
          <p:cNvPr id="7" name="Text 4"/>
          <p:cNvSpPr/>
          <p:nvPr/>
        </p:nvSpPr>
        <p:spPr>
          <a:xfrm>
            <a:off x="6223000" y="1775464"/>
            <a:ext cx="531088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A4A12"/>
                </a:solidFill>
                <a:latin typeface="Arial" pitchFamily="34" charset="0"/>
                <a:ea typeface="Arial" pitchFamily="34" charset="-122"/>
                <a:cs typeface="Arial" pitchFamily="34" charset="-120"/>
              </a:rPr>
              <a:t>Models &amp; output</a:t>
            </a:r>
            <a:endParaRPr lang="en-US" sz="1300" dirty="0"/>
          </a:p>
        </p:txBody>
      </p:sp>
      <p:sp>
        <p:nvSpPr>
          <p:cNvPr id="8" name="Text 5"/>
          <p:cNvSpPr/>
          <p:nvPr/>
        </p:nvSpPr>
        <p:spPr>
          <a:xfrm>
            <a:off x="6321044" y="2120900"/>
            <a:ext cx="5205222" cy="743585"/>
          </a:xfrm>
          <a:prstGeom prst="rect">
            <a:avLst/>
          </a:prstGeom>
          <a:noFill/>
          <a:ln/>
        </p:spPr>
        <p:txBody>
          <a:bodyPr wrap="square" lIns="0" tIns="0" rIns="0" bIns="0" rtlCol="0" anchor="t">
            <a:normAutofit/>
          </a:bodyPr>
          <a:lstStyle/>
          <a:p>
            <a:pPr marL="155956" indent="-155956" algn="l">
              <a:lnSpc>
                <a:spcPts val="1885"/>
              </a:lnSpc>
              <a:buSzPct val="100000"/>
              <a:buChar char="•"/>
            </a:pPr>
            <a:r>
              <a:rPr lang="en-US" sz="1300" b="1" dirty="0">
                <a:solidFill>
                  <a:srgbClr val="3A2412"/>
                </a:solidFill>
                <a:latin typeface="Arial" pitchFamily="34" charset="0"/>
                <a:ea typeface="Arial" pitchFamily="34" charset="-122"/>
                <a:cs typeface="Arial" pitchFamily="34" charset="-120"/>
              </a:rPr>
              <a:t>CNN</a:t>
            </a:r>
            <a:r>
              <a:rPr lang="en-US" sz="1300" dirty="0">
                <a:solidFill>
                  <a:srgbClr val="3A2412"/>
                </a:solidFill>
                <a:latin typeface="Arial" pitchFamily="34" charset="0"/>
                <a:ea typeface="Arial" pitchFamily="34" charset="-122"/>
                <a:cs typeface="Arial" pitchFamily="34" charset="-120"/>
              </a:rPr>
              <a:t> for the photos</a:t>
            </a:r>
            <a:endParaRPr lang="en-US" sz="1300" dirty="0"/>
          </a:p>
          <a:p>
            <a:pPr marL="155956" indent="-155956" algn="l">
              <a:lnSpc>
                <a:spcPts val="1885"/>
              </a:lnSpc>
              <a:buSzPct val="100000"/>
              <a:buChar char="•"/>
            </a:pPr>
            <a:r>
              <a:rPr lang="en-US" sz="1300" b="1" dirty="0">
                <a:solidFill>
                  <a:srgbClr val="3A2412"/>
                </a:solidFill>
                <a:latin typeface="Arial" pitchFamily="34" charset="0"/>
                <a:ea typeface="Arial" pitchFamily="34" charset="-122"/>
                <a:cs typeface="Arial" pitchFamily="34" charset="-120"/>
              </a:rPr>
              <a:t>CNN + LSTM</a:t>
            </a:r>
            <a:r>
              <a:rPr lang="en-US" sz="1300" dirty="0">
                <a:solidFill>
                  <a:srgbClr val="3A2412"/>
                </a:solidFill>
                <a:latin typeface="Arial" pitchFamily="34" charset="0"/>
                <a:ea typeface="Arial" pitchFamily="34" charset="-122"/>
                <a:cs typeface="Arial" pitchFamily="34" charset="-120"/>
              </a:rPr>
              <a:t> for the flow videos</a:t>
            </a:r>
            <a:endParaRPr lang="en-US" sz="1300" dirty="0"/>
          </a:p>
          <a:p>
            <a:pPr marL="155956" indent="-155956" algn="l">
              <a:lnSpc>
                <a:spcPts val="1885"/>
              </a:lnSpc>
              <a:buSzPct val="100000"/>
              <a:buChar char="•"/>
            </a:pPr>
            <a:r>
              <a:rPr lang="en-US" sz="1300" dirty="0">
                <a:solidFill>
                  <a:srgbClr val="3A2412"/>
                </a:solidFill>
                <a:latin typeface="Arial" pitchFamily="34" charset="0"/>
                <a:ea typeface="Arial" pitchFamily="34" charset="-122"/>
                <a:cs typeface="Arial" pitchFamily="34" charset="-120"/>
              </a:rPr>
              <a:t>Predicts pure/mixed and the sugar %</a:t>
            </a:r>
            <a:endParaRPr lang="en-US" sz="1300" dirty="0"/>
          </a:p>
        </p:txBody>
      </p:sp>
      <p:sp>
        <p:nvSpPr>
          <p:cNvPr id="9" name="Shape 6"/>
          <p:cNvSpPr/>
          <p:nvPr/>
        </p:nvSpPr>
        <p:spPr>
          <a:xfrm>
            <a:off x="6223000" y="2953389"/>
            <a:ext cx="5156200" cy="558800"/>
          </a:xfrm>
          <a:prstGeom prst="roundRect">
            <a:avLst>
              <a:gd name="adj" fmla="val 18182"/>
            </a:avLst>
          </a:prstGeom>
          <a:solidFill>
            <a:srgbClr val="3A2412"/>
          </a:solidFill>
          <a:ln/>
        </p:spPr>
        <p:txBody>
          <a:bodyPr/>
          <a:lstStyle/>
          <a:p>
            <a:endParaRPr lang="en-US"/>
          </a:p>
        </p:txBody>
      </p:sp>
      <p:pic>
        <p:nvPicPr>
          <p:cNvPr id="10" name="Image 1" descr="PaperPlane"/>
          <p:cNvPicPr>
            <a:picLocks noChangeAspect="1"/>
          </p:cNvPicPr>
          <p:nvPr/>
        </p:nvPicPr>
        <p:blipFill>
          <a:blip r:embed="rId4"/>
          <a:srcRect/>
          <a:stretch/>
        </p:blipFill>
        <p:spPr>
          <a:xfrm>
            <a:off x="6400800" y="3105789"/>
            <a:ext cx="254000" cy="254000"/>
          </a:xfrm>
          <a:prstGeom prst="rect">
            <a:avLst/>
          </a:prstGeom>
        </p:spPr>
      </p:pic>
      <p:sp>
        <p:nvSpPr>
          <p:cNvPr id="11" name="Text 7"/>
          <p:cNvSpPr/>
          <p:nvPr/>
        </p:nvSpPr>
        <p:spPr>
          <a:xfrm>
            <a:off x="6756400" y="3125632"/>
            <a:ext cx="4578350" cy="239713"/>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F6EFE1"/>
                </a:solidFill>
                <a:latin typeface="Arial" pitchFamily="34" charset="0"/>
                <a:ea typeface="Arial" pitchFamily="34" charset="-122"/>
                <a:cs typeface="Arial" pitchFamily="34" charset="-120"/>
              </a:rPr>
              <a:t>Output: a phone app anyone can use.</a:t>
            </a:r>
            <a:endParaRPr lang="en-US" sz="1250" dirty="0"/>
          </a:p>
        </p:txBody>
      </p:sp>
      <p:sp>
        <p:nvSpPr>
          <p:cNvPr id="12" name="Shape 8"/>
          <p:cNvSpPr/>
          <p:nvPr/>
        </p:nvSpPr>
        <p:spPr>
          <a:xfrm>
            <a:off x="812800" y="3766189"/>
            <a:ext cx="10566400" cy="520700"/>
          </a:xfrm>
          <a:prstGeom prst="roundRect">
            <a:avLst>
              <a:gd name="adj" fmla="val 17073"/>
            </a:avLst>
          </a:prstGeom>
          <a:solidFill>
            <a:srgbClr val="FBEAD6"/>
          </a:solidFill>
          <a:ln/>
        </p:spPr>
        <p:txBody>
          <a:bodyPr/>
          <a:lstStyle/>
          <a:p>
            <a:endParaRPr lang="en-US"/>
          </a:p>
        </p:txBody>
      </p:sp>
      <p:pic>
        <p:nvPicPr>
          <p:cNvPr id="13" name="Image 2" descr="Warning"/>
          <p:cNvPicPr>
            <a:picLocks noChangeAspect="1"/>
          </p:cNvPicPr>
          <p:nvPr/>
        </p:nvPicPr>
        <p:blipFill>
          <a:blip r:embed="rId5"/>
          <a:srcRect/>
          <a:stretch/>
        </p:blipFill>
        <p:spPr>
          <a:xfrm>
            <a:off x="990600" y="3905889"/>
            <a:ext cx="241300" cy="241300"/>
          </a:xfrm>
          <a:prstGeom prst="rect">
            <a:avLst/>
          </a:prstGeom>
        </p:spPr>
      </p:pic>
      <p:sp>
        <p:nvSpPr>
          <p:cNvPr id="14" name="Text 9"/>
          <p:cNvSpPr/>
          <p:nvPr/>
        </p:nvSpPr>
        <p:spPr>
          <a:xfrm>
            <a:off x="1333500" y="3923667"/>
            <a:ext cx="1016393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A2412"/>
                </a:solidFill>
                <a:latin typeface="Arial" pitchFamily="34" charset="0"/>
                <a:ea typeface="Arial" pitchFamily="34" charset="-122"/>
                <a:cs typeface="Arial" pitchFamily="34" charset="-120"/>
              </a:rPr>
              <a:t>Key tool:</a:t>
            </a:r>
            <a:r>
              <a:rPr lang="en-US" sz="1200" dirty="0">
                <a:solidFill>
                  <a:srgbClr val="3A2412"/>
                </a:solidFill>
                <a:latin typeface="Arial" pitchFamily="34" charset="0"/>
                <a:ea typeface="Arial" pitchFamily="34" charset="-122"/>
                <a:cs typeface="Arial" pitchFamily="34" charset="-120"/>
              </a:rPr>
              <a:t> OpenCV, MobileNet/EfficientNet, TensorFlow Lite, Flutter. Keep lighting, amount and temperature the same every time.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EFE1"/>
        </a:solidFill>
        <a:effectLst/>
      </p:bgPr>
    </p:bg>
    <p:spTree>
      <p:nvGrpSpPr>
        <p:cNvPr id="1" name=""/>
        <p:cNvGrpSpPr/>
        <p:nvPr/>
      </p:nvGrpSpPr>
      <p:grpSpPr>
        <a:xfrm>
          <a:off x="0" y="0"/>
          <a:ext cx="0" cy="0"/>
          <a:chOff x="0" y="0"/>
          <a:chExt cx="0" cy="0"/>
        </a:xfrm>
      </p:grpSpPr>
      <p:sp>
        <p:nvSpPr>
          <p:cNvPr id="2" name="Text 0"/>
          <p:cNvSpPr/>
          <p:nvPr/>
        </p:nvSpPr>
        <p:spPr>
          <a:xfrm>
            <a:off x="812800" y="812800"/>
            <a:ext cx="6469945"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A4A12"/>
                </a:solidFill>
                <a:latin typeface="Arial" pitchFamily="34" charset="0"/>
                <a:ea typeface="Arial" pitchFamily="34" charset="-122"/>
                <a:cs typeface="Arial" pitchFamily="34" charset="-120"/>
              </a:rPr>
              <a:t>MEMBER 2 · SENSOR DEVICE</a:t>
            </a:r>
            <a:endParaRPr lang="en-US" sz="1200" dirty="0"/>
          </a:p>
        </p:txBody>
      </p:sp>
      <p:sp>
        <p:nvSpPr>
          <p:cNvPr id="3" name="Text 1"/>
          <p:cNvSpPr>
            <a:spLocks noGrp="1"/>
          </p:cNvSpPr>
          <p:nvPr>
            <p:ph type="title"/>
          </p:nvPr>
        </p:nvSpPr>
        <p:spPr>
          <a:xfrm>
            <a:off x="812800" y="1102364"/>
            <a:ext cx="7537799"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3A2412"/>
                </a:solidFill>
                <a:latin typeface="Georgia" pitchFamily="18" charset="0"/>
                <a:ea typeface="Georgia" pitchFamily="18" charset="-122"/>
                <a:cs typeface="Georgia" pitchFamily="18" charset="-120"/>
              </a:rPr>
              <a:t>Can a cheap gadget match a lab?</a:t>
            </a:r>
            <a:endParaRPr lang="en-US" sz="3000" dirty="0"/>
          </a:p>
        </p:txBody>
      </p:sp>
      <p:pic>
        <p:nvPicPr>
          <p:cNvPr id="4" name="Image 0" descr="Settings"/>
          <p:cNvPicPr>
            <a:picLocks noChangeAspect="1"/>
          </p:cNvPicPr>
          <p:nvPr/>
        </p:nvPicPr>
        <p:blipFill>
          <a:blip r:embed="rId3"/>
          <a:srcRect/>
          <a:stretch/>
        </p:blipFill>
        <p:spPr>
          <a:xfrm>
            <a:off x="10807700" y="949964"/>
            <a:ext cx="571500" cy="571500"/>
          </a:xfrm>
          <a:prstGeom prst="rect">
            <a:avLst/>
          </a:prstGeom>
        </p:spPr>
      </p:pic>
      <p:sp>
        <p:nvSpPr>
          <p:cNvPr id="5" name="Text 2"/>
          <p:cNvSpPr/>
          <p:nvPr/>
        </p:nvSpPr>
        <p:spPr>
          <a:xfrm>
            <a:off x="812800" y="1775464"/>
            <a:ext cx="531088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A4A12"/>
                </a:solidFill>
                <a:latin typeface="Arial" pitchFamily="34" charset="0"/>
                <a:ea typeface="Arial" pitchFamily="34" charset="-122"/>
                <a:cs typeface="Arial" pitchFamily="34" charset="-120"/>
              </a:rPr>
              <a:t>What it does</a:t>
            </a:r>
            <a:endParaRPr lang="en-US" sz="1300" dirty="0"/>
          </a:p>
        </p:txBody>
      </p:sp>
      <p:sp>
        <p:nvSpPr>
          <p:cNvPr id="6" name="Text 3"/>
          <p:cNvSpPr/>
          <p:nvPr/>
        </p:nvSpPr>
        <p:spPr>
          <a:xfrm>
            <a:off x="910844" y="2120900"/>
            <a:ext cx="5205222" cy="1222375"/>
          </a:xfrm>
          <a:prstGeom prst="rect">
            <a:avLst/>
          </a:prstGeom>
          <a:noFill/>
          <a:ln/>
        </p:spPr>
        <p:txBody>
          <a:bodyPr wrap="square" lIns="0" tIns="0" rIns="0" bIns="0" rtlCol="0" anchor="t">
            <a:normAutofit/>
          </a:bodyPr>
          <a:lstStyle/>
          <a:p>
            <a:pPr marL="155956" indent="-155956" algn="l">
              <a:lnSpc>
                <a:spcPts val="1885"/>
              </a:lnSpc>
              <a:buSzPct val="100000"/>
              <a:buChar char="•"/>
            </a:pPr>
            <a:r>
              <a:rPr lang="en-US" sz="1300" dirty="0">
                <a:solidFill>
                  <a:srgbClr val="3A2412"/>
                </a:solidFill>
                <a:latin typeface="Arial" pitchFamily="34" charset="0"/>
                <a:ea typeface="Arial" pitchFamily="34" charset="-122"/>
                <a:cs typeface="Arial" pitchFamily="34" charset="-120"/>
              </a:rPr>
              <a:t>Build a handheld device on an </a:t>
            </a:r>
            <a:r>
              <a:rPr lang="en-US" sz="1300" b="1" dirty="0">
                <a:solidFill>
                  <a:srgbClr val="3A2412"/>
                </a:solidFill>
                <a:latin typeface="Arial" pitchFamily="34" charset="0"/>
                <a:ea typeface="Arial" pitchFamily="34" charset="-122"/>
                <a:cs typeface="Arial" pitchFamily="34" charset="-120"/>
              </a:rPr>
              <a:t>ESP32</a:t>
            </a:r>
            <a:r>
              <a:rPr lang="en-US" sz="1300" dirty="0">
                <a:solidFill>
                  <a:srgbClr val="3A2412"/>
                </a:solidFill>
                <a:latin typeface="Arial" pitchFamily="34" charset="0"/>
                <a:ea typeface="Arial" pitchFamily="34" charset="-122"/>
                <a:cs typeface="Arial" pitchFamily="34" charset="-120"/>
              </a:rPr>
              <a:t> board</a:t>
            </a:r>
            <a:endParaRPr lang="en-US" sz="1300" dirty="0"/>
          </a:p>
          <a:p>
            <a:pPr marL="155956" indent="-155956" algn="l">
              <a:lnSpc>
                <a:spcPts val="1885"/>
              </a:lnSpc>
              <a:buSzPct val="100000"/>
              <a:buChar char="•"/>
            </a:pPr>
            <a:r>
              <a:rPr lang="en-US" sz="1300" dirty="0">
                <a:solidFill>
                  <a:srgbClr val="3A2412"/>
                </a:solidFill>
                <a:latin typeface="Arial" pitchFamily="34" charset="0"/>
                <a:ea typeface="Arial" pitchFamily="34" charset="-122"/>
                <a:cs typeface="Arial" pitchFamily="34" charset="-120"/>
              </a:rPr>
              <a:t>A </a:t>
            </a:r>
            <a:r>
              <a:rPr lang="en-US" sz="1300" b="1" dirty="0">
                <a:solidFill>
                  <a:srgbClr val="3A2412"/>
                </a:solidFill>
                <a:latin typeface="Arial" pitchFamily="34" charset="0"/>
                <a:ea typeface="Arial" pitchFamily="34" charset="-122"/>
                <a:cs typeface="Arial" pitchFamily="34" charset="-120"/>
              </a:rPr>
              <a:t>multispectral light sensor</a:t>
            </a:r>
            <a:r>
              <a:rPr lang="en-US" sz="1300" dirty="0">
                <a:solidFill>
                  <a:srgbClr val="3A2412"/>
                </a:solidFill>
                <a:latin typeface="Arial" pitchFamily="34" charset="0"/>
                <a:ea typeface="Arial" pitchFamily="34" charset="-122"/>
                <a:cs typeface="Arial" pitchFamily="34" charset="-120"/>
              </a:rPr>
              <a:t> (≈18 colour bands) reads the “light fingerprint”</a:t>
            </a:r>
            <a:endParaRPr lang="en-US" sz="1300" dirty="0"/>
          </a:p>
          <a:p>
            <a:pPr marL="155956" indent="-155956" algn="l">
              <a:lnSpc>
                <a:spcPts val="1885"/>
              </a:lnSpc>
              <a:buSzPct val="100000"/>
              <a:buChar char="•"/>
            </a:pPr>
            <a:r>
              <a:rPr lang="en-US" sz="1300" dirty="0">
                <a:solidFill>
                  <a:srgbClr val="3A2412"/>
                </a:solidFill>
                <a:latin typeface="Arial" pitchFamily="34" charset="0"/>
                <a:ea typeface="Arial" pitchFamily="34" charset="-122"/>
                <a:cs typeface="Arial" pitchFamily="34" charset="-120"/>
              </a:rPr>
              <a:t>A </a:t>
            </a:r>
            <a:r>
              <a:rPr lang="en-US" sz="1300" b="1" dirty="0">
                <a:solidFill>
                  <a:srgbClr val="3A2412"/>
                </a:solidFill>
                <a:latin typeface="Arial" pitchFamily="34" charset="0"/>
                <a:ea typeface="Arial" pitchFamily="34" charset="-122"/>
                <a:cs typeface="Arial" pitchFamily="34" charset="-120"/>
              </a:rPr>
              <a:t>conductivity probe</a:t>
            </a:r>
            <a:r>
              <a:rPr lang="en-US" sz="1300" dirty="0">
                <a:solidFill>
                  <a:srgbClr val="3A2412"/>
                </a:solidFill>
                <a:latin typeface="Arial" pitchFamily="34" charset="0"/>
                <a:ea typeface="Arial" pitchFamily="34" charset="-122"/>
                <a:cs typeface="Arial" pitchFamily="34" charset="-120"/>
              </a:rPr>
              <a:t> reads natural minerals — sugar has few</a:t>
            </a:r>
            <a:endParaRPr lang="en-US" sz="1300" dirty="0"/>
          </a:p>
          <a:p>
            <a:pPr marL="155956" indent="-155956" algn="l">
              <a:lnSpc>
                <a:spcPts val="1885"/>
              </a:lnSpc>
              <a:buSzPct val="100000"/>
              <a:buChar char="•"/>
            </a:pPr>
            <a:r>
              <a:rPr lang="en-US" sz="1300" dirty="0">
                <a:solidFill>
                  <a:srgbClr val="3A2412"/>
                </a:solidFill>
                <a:latin typeface="Arial" pitchFamily="34" charset="0"/>
                <a:ea typeface="Arial" pitchFamily="34" charset="-122"/>
                <a:cs typeface="Arial" pitchFamily="34" charset="-120"/>
              </a:rPr>
              <a:t>Also logs temperature, which affects readings</a:t>
            </a:r>
            <a:endParaRPr lang="en-US" sz="1300" dirty="0"/>
          </a:p>
        </p:txBody>
      </p:sp>
      <p:sp>
        <p:nvSpPr>
          <p:cNvPr id="7" name="Text 4"/>
          <p:cNvSpPr/>
          <p:nvPr/>
        </p:nvSpPr>
        <p:spPr>
          <a:xfrm>
            <a:off x="6223000" y="1775464"/>
            <a:ext cx="531088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A4A12"/>
                </a:solidFill>
                <a:latin typeface="Arial" pitchFamily="34" charset="0"/>
                <a:ea typeface="Arial" pitchFamily="34" charset="-122"/>
                <a:cs typeface="Arial" pitchFamily="34" charset="-120"/>
              </a:rPr>
              <a:t>Models &amp; output</a:t>
            </a:r>
            <a:endParaRPr lang="en-US" sz="1300" dirty="0"/>
          </a:p>
        </p:txBody>
      </p:sp>
      <p:sp>
        <p:nvSpPr>
          <p:cNvPr id="8" name="Text 5"/>
          <p:cNvSpPr/>
          <p:nvPr/>
        </p:nvSpPr>
        <p:spPr>
          <a:xfrm>
            <a:off x="6321044" y="2120900"/>
            <a:ext cx="5205222" cy="504190"/>
          </a:xfrm>
          <a:prstGeom prst="rect">
            <a:avLst/>
          </a:prstGeom>
          <a:noFill/>
          <a:ln/>
        </p:spPr>
        <p:txBody>
          <a:bodyPr wrap="square" lIns="0" tIns="0" rIns="0" bIns="0" rtlCol="0" anchor="t">
            <a:normAutofit/>
          </a:bodyPr>
          <a:lstStyle/>
          <a:p>
            <a:pPr marL="155956" indent="-155956" algn="l">
              <a:lnSpc>
                <a:spcPts val="1885"/>
              </a:lnSpc>
              <a:buSzPct val="100000"/>
              <a:buChar char="•"/>
            </a:pPr>
            <a:r>
              <a:rPr lang="en-US" sz="1300" b="1" dirty="0">
                <a:solidFill>
                  <a:srgbClr val="3A2412"/>
                </a:solidFill>
                <a:latin typeface="Arial" pitchFamily="34" charset="0"/>
                <a:ea typeface="Arial" pitchFamily="34" charset="-122"/>
                <a:cs typeface="Arial" pitchFamily="34" charset="-120"/>
              </a:rPr>
              <a:t>PLS</a:t>
            </a:r>
            <a:r>
              <a:rPr lang="en-US" sz="1300" dirty="0">
                <a:solidFill>
                  <a:srgbClr val="3A2412"/>
                </a:solidFill>
                <a:latin typeface="Arial" pitchFamily="34" charset="0"/>
                <a:ea typeface="Arial" pitchFamily="34" charset="-122"/>
                <a:cs typeface="Arial" pitchFamily="34" charset="-120"/>
              </a:rPr>
              <a:t> and </a:t>
            </a:r>
            <a:r>
              <a:rPr lang="en-US" sz="1300" b="1" dirty="0">
                <a:solidFill>
                  <a:srgbClr val="3A2412"/>
                </a:solidFill>
                <a:latin typeface="Arial" pitchFamily="34" charset="0"/>
                <a:ea typeface="Arial" pitchFamily="34" charset="-122"/>
                <a:cs typeface="Arial" pitchFamily="34" charset="-120"/>
              </a:rPr>
              <a:t>SVM</a:t>
            </a:r>
            <a:r>
              <a:rPr lang="en-US" sz="1300" dirty="0">
                <a:solidFill>
                  <a:srgbClr val="3A2412"/>
                </a:solidFill>
                <a:latin typeface="Arial" pitchFamily="34" charset="0"/>
                <a:ea typeface="Arial" pitchFamily="34" charset="-122"/>
                <a:cs typeface="Arial" pitchFamily="34" charset="-120"/>
              </a:rPr>
              <a:t> (classic) vs. a </a:t>
            </a:r>
            <a:r>
              <a:rPr lang="en-US" sz="1300" b="1" dirty="0">
                <a:solidFill>
                  <a:srgbClr val="3A2412"/>
                </a:solidFill>
                <a:latin typeface="Arial" pitchFamily="34" charset="0"/>
                <a:ea typeface="Arial" pitchFamily="34" charset="-122"/>
                <a:cs typeface="Arial" pitchFamily="34" charset="-120"/>
              </a:rPr>
              <a:t>1D-CNN</a:t>
            </a:r>
            <a:endParaRPr lang="en-US" sz="1300" dirty="0"/>
          </a:p>
          <a:p>
            <a:pPr marL="155956" indent="-155956" algn="l">
              <a:lnSpc>
                <a:spcPts val="1885"/>
              </a:lnSpc>
              <a:buSzPct val="100000"/>
              <a:buChar char="•"/>
            </a:pPr>
            <a:r>
              <a:rPr lang="en-US" sz="1300" dirty="0">
                <a:solidFill>
                  <a:srgbClr val="3A2412"/>
                </a:solidFill>
                <a:latin typeface="Arial" pitchFamily="34" charset="0"/>
                <a:ea typeface="Arial" pitchFamily="34" charset="-122"/>
                <a:cs typeface="Arial" pitchFamily="34" charset="-120"/>
              </a:rPr>
              <a:t>Predicts pure/mixed and the sugar %</a:t>
            </a:r>
            <a:endParaRPr lang="en-US" sz="1300" dirty="0"/>
          </a:p>
        </p:txBody>
      </p:sp>
      <p:sp>
        <p:nvSpPr>
          <p:cNvPr id="9" name="Shape 6"/>
          <p:cNvSpPr/>
          <p:nvPr/>
        </p:nvSpPr>
        <p:spPr>
          <a:xfrm>
            <a:off x="6223000" y="2713992"/>
            <a:ext cx="5156200" cy="558800"/>
          </a:xfrm>
          <a:prstGeom prst="roundRect">
            <a:avLst>
              <a:gd name="adj" fmla="val 18182"/>
            </a:avLst>
          </a:prstGeom>
          <a:solidFill>
            <a:srgbClr val="3A2412"/>
          </a:solidFill>
          <a:ln/>
        </p:spPr>
        <p:txBody>
          <a:bodyPr/>
          <a:lstStyle/>
          <a:p>
            <a:endParaRPr lang="en-US"/>
          </a:p>
        </p:txBody>
      </p:sp>
      <p:pic>
        <p:nvPicPr>
          <p:cNvPr id="10" name="Image 1" descr="PaperPlane"/>
          <p:cNvPicPr>
            <a:picLocks noChangeAspect="1"/>
          </p:cNvPicPr>
          <p:nvPr/>
        </p:nvPicPr>
        <p:blipFill>
          <a:blip r:embed="rId4"/>
          <a:srcRect/>
          <a:stretch/>
        </p:blipFill>
        <p:spPr>
          <a:xfrm>
            <a:off x="6400800" y="2866392"/>
            <a:ext cx="254000" cy="254000"/>
          </a:xfrm>
          <a:prstGeom prst="rect">
            <a:avLst/>
          </a:prstGeom>
        </p:spPr>
      </p:pic>
      <p:sp>
        <p:nvSpPr>
          <p:cNvPr id="11" name="Text 7"/>
          <p:cNvSpPr/>
          <p:nvPr/>
        </p:nvSpPr>
        <p:spPr>
          <a:xfrm>
            <a:off x="6756400" y="2886236"/>
            <a:ext cx="4578350" cy="239713"/>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F6EFE1"/>
                </a:solidFill>
                <a:latin typeface="Arial" pitchFamily="34" charset="0"/>
                <a:ea typeface="Arial" pitchFamily="34" charset="-122"/>
                <a:cs typeface="Arial" pitchFamily="34" charset="-120"/>
              </a:rPr>
              <a:t>Output: a low-cost pocket tester for shops and collectors.</a:t>
            </a:r>
            <a:endParaRPr lang="en-US" sz="1250" dirty="0"/>
          </a:p>
        </p:txBody>
      </p:sp>
      <p:sp>
        <p:nvSpPr>
          <p:cNvPr id="12" name="Shape 8"/>
          <p:cNvSpPr/>
          <p:nvPr/>
        </p:nvSpPr>
        <p:spPr>
          <a:xfrm>
            <a:off x="812800" y="3571875"/>
            <a:ext cx="10566400" cy="520700"/>
          </a:xfrm>
          <a:prstGeom prst="roundRect">
            <a:avLst>
              <a:gd name="adj" fmla="val 17073"/>
            </a:avLst>
          </a:prstGeom>
          <a:solidFill>
            <a:srgbClr val="FBEAD6"/>
          </a:solidFill>
          <a:ln/>
        </p:spPr>
        <p:txBody>
          <a:bodyPr/>
          <a:lstStyle/>
          <a:p>
            <a:endParaRPr lang="en-US"/>
          </a:p>
        </p:txBody>
      </p:sp>
      <p:pic>
        <p:nvPicPr>
          <p:cNvPr id="13" name="Image 2" descr="Warning"/>
          <p:cNvPicPr>
            <a:picLocks noChangeAspect="1"/>
          </p:cNvPicPr>
          <p:nvPr/>
        </p:nvPicPr>
        <p:blipFill>
          <a:blip r:embed="rId5"/>
          <a:srcRect/>
          <a:stretch/>
        </p:blipFill>
        <p:spPr>
          <a:xfrm>
            <a:off x="990600" y="3711575"/>
            <a:ext cx="241300" cy="241300"/>
          </a:xfrm>
          <a:prstGeom prst="rect">
            <a:avLst/>
          </a:prstGeom>
        </p:spPr>
      </p:pic>
      <p:sp>
        <p:nvSpPr>
          <p:cNvPr id="14" name="Text 9"/>
          <p:cNvSpPr/>
          <p:nvPr/>
        </p:nvSpPr>
        <p:spPr>
          <a:xfrm>
            <a:off x="1333500" y="3729354"/>
            <a:ext cx="1016393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A2412"/>
                </a:solidFill>
                <a:latin typeface="Arial" pitchFamily="34" charset="0"/>
                <a:ea typeface="Arial" pitchFamily="34" charset="-122"/>
                <a:cs typeface="Arial" pitchFamily="34" charset="-120"/>
              </a:rPr>
              <a:t>Key tool:</a:t>
            </a:r>
            <a:r>
              <a:rPr lang="en-US" sz="1200" dirty="0">
                <a:solidFill>
                  <a:srgbClr val="3A2412"/>
                </a:solidFill>
                <a:latin typeface="Arial" pitchFamily="34" charset="0"/>
                <a:ea typeface="Arial" pitchFamily="34" charset="-122"/>
                <a:cs typeface="Arial" pitchFamily="34" charset="-120"/>
              </a:rPr>
              <a:t> AS7265x sensor, Arduino/ESP32, scikit-learn. Calibrate before each session and clean the probe between samples.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EFE1"/>
        </a:solidFill>
        <a:effectLst/>
      </p:bgPr>
    </p:bg>
    <p:spTree>
      <p:nvGrpSpPr>
        <p:cNvPr id="1" name=""/>
        <p:cNvGrpSpPr/>
        <p:nvPr/>
      </p:nvGrpSpPr>
      <p:grpSpPr>
        <a:xfrm>
          <a:off x="0" y="0"/>
          <a:ext cx="0" cy="0"/>
          <a:chOff x="0" y="0"/>
          <a:chExt cx="0" cy="0"/>
        </a:xfrm>
      </p:grpSpPr>
      <p:sp>
        <p:nvSpPr>
          <p:cNvPr id="2" name="Text 0"/>
          <p:cNvSpPr/>
          <p:nvPr/>
        </p:nvSpPr>
        <p:spPr>
          <a:xfrm>
            <a:off x="812800" y="812800"/>
            <a:ext cx="62976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E7A4A"/>
                </a:solidFill>
                <a:latin typeface="Arial" pitchFamily="34" charset="0"/>
                <a:ea typeface="Arial" pitchFamily="34" charset="-122"/>
                <a:cs typeface="Arial" pitchFamily="34" charset="-120"/>
              </a:rPr>
              <a:t>MEMBER 3 · THERMAL + FUSION</a:t>
            </a:r>
            <a:endParaRPr lang="en-US" sz="1200" dirty="0"/>
          </a:p>
        </p:txBody>
      </p:sp>
      <p:sp>
        <p:nvSpPr>
          <p:cNvPr id="3" name="Text 1"/>
          <p:cNvSpPr>
            <a:spLocks noGrp="1"/>
          </p:cNvSpPr>
          <p:nvPr>
            <p:ph type="title"/>
          </p:nvPr>
        </p:nvSpPr>
        <p:spPr>
          <a:xfrm>
            <a:off x="812800" y="1102364"/>
            <a:ext cx="7337108"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3A2412"/>
                </a:solidFill>
                <a:latin typeface="Georgia" pitchFamily="18" charset="0"/>
                <a:ea typeface="Georgia" pitchFamily="18" charset="-122"/>
                <a:cs typeface="Georgia" pitchFamily="18" charset="-120"/>
              </a:rPr>
              <a:t>Heat patterns, and joining it all</a:t>
            </a:r>
            <a:endParaRPr lang="en-US" sz="3000" dirty="0"/>
          </a:p>
        </p:txBody>
      </p:sp>
      <p:pic>
        <p:nvPicPr>
          <p:cNvPr id="4" name="Image 0" descr="Activity"/>
          <p:cNvPicPr>
            <a:picLocks noChangeAspect="1"/>
          </p:cNvPicPr>
          <p:nvPr/>
        </p:nvPicPr>
        <p:blipFill>
          <a:blip r:embed="rId3"/>
          <a:srcRect/>
          <a:stretch/>
        </p:blipFill>
        <p:spPr>
          <a:xfrm>
            <a:off x="10807700" y="949964"/>
            <a:ext cx="571500" cy="571500"/>
          </a:xfrm>
          <a:prstGeom prst="rect">
            <a:avLst/>
          </a:prstGeom>
        </p:spPr>
      </p:pic>
      <p:sp>
        <p:nvSpPr>
          <p:cNvPr id="5" name="Text 2"/>
          <p:cNvSpPr/>
          <p:nvPr/>
        </p:nvSpPr>
        <p:spPr>
          <a:xfrm>
            <a:off x="812800" y="1775464"/>
            <a:ext cx="531088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A4A12"/>
                </a:solidFill>
                <a:latin typeface="Arial" pitchFamily="34" charset="0"/>
                <a:ea typeface="Arial" pitchFamily="34" charset="-122"/>
                <a:cs typeface="Arial" pitchFamily="34" charset="-120"/>
              </a:rPr>
              <a:t>What it does</a:t>
            </a:r>
            <a:endParaRPr lang="en-US" sz="1300" dirty="0"/>
          </a:p>
        </p:txBody>
      </p:sp>
      <p:sp>
        <p:nvSpPr>
          <p:cNvPr id="6" name="Text 3"/>
          <p:cNvSpPr/>
          <p:nvPr/>
        </p:nvSpPr>
        <p:spPr>
          <a:xfrm>
            <a:off x="910844" y="2120900"/>
            <a:ext cx="5205222" cy="982980"/>
          </a:xfrm>
          <a:prstGeom prst="rect">
            <a:avLst/>
          </a:prstGeom>
          <a:noFill/>
          <a:ln/>
        </p:spPr>
        <p:txBody>
          <a:bodyPr wrap="square" lIns="0" tIns="0" rIns="0" bIns="0" rtlCol="0" anchor="t">
            <a:normAutofit/>
          </a:bodyPr>
          <a:lstStyle/>
          <a:p>
            <a:pPr marL="155956" indent="-155956" algn="l">
              <a:lnSpc>
                <a:spcPts val="1885"/>
              </a:lnSpc>
              <a:buSzPct val="100000"/>
              <a:buChar char="•"/>
            </a:pPr>
            <a:r>
              <a:rPr lang="en-US" sz="1300" dirty="0">
                <a:solidFill>
                  <a:srgbClr val="3A2412"/>
                </a:solidFill>
                <a:latin typeface="Arial" pitchFamily="34" charset="0"/>
                <a:ea typeface="Arial" pitchFamily="34" charset="-122"/>
                <a:cs typeface="Arial" pitchFamily="34" charset="-120"/>
              </a:rPr>
              <a:t>A </a:t>
            </a:r>
            <a:r>
              <a:rPr lang="en-US" sz="1300" b="1" dirty="0">
                <a:solidFill>
                  <a:srgbClr val="3A2412"/>
                </a:solidFill>
                <a:latin typeface="Arial" pitchFamily="34" charset="0"/>
                <a:ea typeface="Arial" pitchFamily="34" charset="-122"/>
                <a:cs typeface="Arial" pitchFamily="34" charset="-120"/>
              </a:rPr>
              <a:t>thermal camera</a:t>
            </a:r>
            <a:r>
              <a:rPr lang="en-US" sz="1300" dirty="0">
                <a:solidFill>
                  <a:srgbClr val="3A2412"/>
                </a:solidFill>
                <a:latin typeface="Arial" pitchFamily="34" charset="0"/>
                <a:ea typeface="Arial" pitchFamily="34" charset="-122"/>
                <a:cs typeface="Arial" pitchFamily="34" charset="-120"/>
              </a:rPr>
              <a:t> (cheap MLX90640, or a borrowed FLIR) sees heat, not light</a:t>
            </a:r>
            <a:endParaRPr lang="en-US" sz="1300" dirty="0"/>
          </a:p>
          <a:p>
            <a:pPr marL="155956" indent="-155956" algn="l">
              <a:lnSpc>
                <a:spcPts val="1885"/>
              </a:lnSpc>
              <a:buSzPct val="100000"/>
              <a:buChar char="•"/>
            </a:pPr>
            <a:r>
              <a:rPr lang="en-US" sz="1300" dirty="0">
                <a:solidFill>
                  <a:srgbClr val="3A2412"/>
                </a:solidFill>
                <a:latin typeface="Arial" pitchFamily="34" charset="0"/>
                <a:ea typeface="Arial" pitchFamily="34" charset="-122"/>
                <a:cs typeface="Arial" pitchFamily="34" charset="-120"/>
              </a:rPr>
              <a:t>Records how each sample </a:t>
            </a:r>
            <a:r>
              <a:rPr lang="en-US" sz="1300" b="1" dirty="0">
                <a:solidFill>
                  <a:srgbClr val="3A2412"/>
                </a:solidFill>
                <a:latin typeface="Arial" pitchFamily="34" charset="0"/>
                <a:ea typeface="Arial" pitchFamily="34" charset="-122"/>
                <a:cs typeface="Arial" pitchFamily="34" charset="-120"/>
              </a:rPr>
              <a:t>heats up and cools down</a:t>
            </a:r>
            <a:endParaRPr lang="en-US" sz="1300" dirty="0"/>
          </a:p>
          <a:p>
            <a:pPr marL="155956" indent="-155956" algn="l">
              <a:lnSpc>
                <a:spcPts val="1885"/>
              </a:lnSpc>
              <a:buSzPct val="100000"/>
              <a:buChar char="•"/>
            </a:pPr>
            <a:r>
              <a:rPr lang="en-US" sz="1300" dirty="0">
                <a:solidFill>
                  <a:srgbClr val="3A2412"/>
                </a:solidFill>
                <a:latin typeface="Arial" pitchFamily="34" charset="0"/>
                <a:ea typeface="Arial" pitchFamily="34" charset="-122"/>
                <a:cs typeface="Arial" pitchFamily="34" charset="-120"/>
              </a:rPr>
              <a:t>Pure and mixed treacle hold heat differently</a:t>
            </a:r>
            <a:endParaRPr lang="en-US" sz="1300" dirty="0"/>
          </a:p>
        </p:txBody>
      </p:sp>
      <p:sp>
        <p:nvSpPr>
          <p:cNvPr id="7" name="Text 4"/>
          <p:cNvSpPr/>
          <p:nvPr/>
        </p:nvSpPr>
        <p:spPr>
          <a:xfrm>
            <a:off x="6223000" y="1775464"/>
            <a:ext cx="531088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A4A12"/>
                </a:solidFill>
                <a:latin typeface="Arial" pitchFamily="34" charset="0"/>
                <a:ea typeface="Arial" pitchFamily="34" charset="-122"/>
                <a:cs typeface="Arial" pitchFamily="34" charset="-120"/>
              </a:rPr>
              <a:t>Models &amp; output</a:t>
            </a:r>
            <a:endParaRPr lang="en-US" sz="1300" dirty="0"/>
          </a:p>
        </p:txBody>
      </p:sp>
      <p:sp>
        <p:nvSpPr>
          <p:cNvPr id="8" name="Text 5"/>
          <p:cNvSpPr/>
          <p:nvPr/>
        </p:nvSpPr>
        <p:spPr>
          <a:xfrm>
            <a:off x="6321044" y="2120900"/>
            <a:ext cx="5205222" cy="743585"/>
          </a:xfrm>
          <a:prstGeom prst="rect">
            <a:avLst/>
          </a:prstGeom>
          <a:noFill/>
          <a:ln/>
        </p:spPr>
        <p:txBody>
          <a:bodyPr wrap="square" lIns="0" tIns="0" rIns="0" bIns="0" rtlCol="0" anchor="t">
            <a:normAutofit/>
          </a:bodyPr>
          <a:lstStyle/>
          <a:p>
            <a:pPr marL="155956" indent="-155956" algn="l">
              <a:lnSpc>
                <a:spcPts val="1885"/>
              </a:lnSpc>
              <a:buSzPct val="100000"/>
              <a:buChar char="•"/>
            </a:pPr>
            <a:r>
              <a:rPr lang="en-US" sz="1300" b="1" dirty="0">
                <a:solidFill>
                  <a:srgbClr val="3A2412"/>
                </a:solidFill>
                <a:latin typeface="Arial" pitchFamily="34" charset="0"/>
                <a:ea typeface="Arial" pitchFamily="34" charset="-122"/>
                <a:cs typeface="Arial" pitchFamily="34" charset="-120"/>
              </a:rPr>
              <a:t>ConvLSTM / 3D-CNN</a:t>
            </a:r>
            <a:r>
              <a:rPr lang="en-US" sz="1300" dirty="0">
                <a:solidFill>
                  <a:srgbClr val="3A2412"/>
                </a:solidFill>
                <a:latin typeface="Arial" pitchFamily="34" charset="0"/>
                <a:ea typeface="Arial" pitchFamily="34" charset="-122"/>
                <a:cs typeface="Arial" pitchFamily="34" charset="-120"/>
              </a:rPr>
              <a:t> on the heat videos</a:t>
            </a:r>
            <a:endParaRPr lang="en-US" sz="1300" dirty="0"/>
          </a:p>
          <a:p>
            <a:pPr marL="155956" indent="-155956" algn="l">
              <a:lnSpc>
                <a:spcPts val="1885"/>
              </a:lnSpc>
              <a:buSzPct val="100000"/>
              <a:buChar char="•"/>
            </a:pPr>
            <a:r>
              <a:rPr lang="en-US" sz="1300" dirty="0">
                <a:solidFill>
                  <a:srgbClr val="3A2412"/>
                </a:solidFill>
                <a:latin typeface="Arial" pitchFamily="34" charset="0"/>
                <a:ea typeface="Arial" pitchFamily="34" charset="-122"/>
                <a:cs typeface="Arial" pitchFamily="34" charset="-120"/>
              </a:rPr>
              <a:t>Builds the </a:t>
            </a:r>
            <a:r>
              <a:rPr lang="en-US" sz="1300" b="1" dirty="0">
                <a:solidFill>
                  <a:srgbClr val="3A2412"/>
                </a:solidFill>
                <a:latin typeface="Arial" pitchFamily="34" charset="0"/>
                <a:ea typeface="Arial" pitchFamily="34" charset="-122"/>
                <a:cs typeface="Arial" pitchFamily="34" charset="-120"/>
              </a:rPr>
              <a:t>combined model</a:t>
            </a:r>
            <a:r>
              <a:rPr lang="en-US" sz="1300" dirty="0">
                <a:solidFill>
                  <a:srgbClr val="3A2412"/>
                </a:solidFill>
                <a:latin typeface="Arial" pitchFamily="34" charset="0"/>
                <a:ea typeface="Arial" pitchFamily="34" charset="-122"/>
                <a:cs typeface="Arial" pitchFamily="34" charset="-120"/>
              </a:rPr>
              <a:t> using all three methods</a:t>
            </a:r>
            <a:endParaRPr lang="en-US" sz="1300" dirty="0"/>
          </a:p>
          <a:p>
            <a:pPr marL="155956" indent="-155956" algn="l">
              <a:lnSpc>
                <a:spcPts val="1885"/>
              </a:lnSpc>
              <a:buSzPct val="100000"/>
              <a:buChar char="•"/>
            </a:pPr>
            <a:r>
              <a:rPr lang="en-US" sz="1300" b="1" dirty="0">
                <a:solidFill>
                  <a:srgbClr val="3A2412"/>
                </a:solidFill>
                <a:latin typeface="Arial" pitchFamily="34" charset="0"/>
                <a:ea typeface="Arial" pitchFamily="34" charset="-122"/>
                <a:cs typeface="Arial" pitchFamily="34" charset="-120"/>
              </a:rPr>
              <a:t>Grad-CAM &amp; SHAP</a:t>
            </a:r>
            <a:r>
              <a:rPr lang="en-US" sz="1300" dirty="0">
                <a:solidFill>
                  <a:srgbClr val="3A2412"/>
                </a:solidFill>
                <a:latin typeface="Arial" pitchFamily="34" charset="0"/>
                <a:ea typeface="Arial" pitchFamily="34" charset="-122"/>
                <a:cs typeface="Arial" pitchFamily="34" charset="-120"/>
              </a:rPr>
              <a:t> explain </a:t>
            </a:r>
            <a:r>
              <a:rPr lang="en-US" sz="1300" i="1" dirty="0">
                <a:solidFill>
                  <a:srgbClr val="3A2412"/>
                </a:solidFill>
                <a:latin typeface="Arial" pitchFamily="34" charset="0"/>
                <a:ea typeface="Arial" pitchFamily="34" charset="-122"/>
                <a:cs typeface="Arial" pitchFamily="34" charset="-120"/>
              </a:rPr>
              <a:t>why</a:t>
            </a:r>
            <a:r>
              <a:rPr lang="en-US" sz="1300" dirty="0">
                <a:solidFill>
                  <a:srgbClr val="3A2412"/>
                </a:solidFill>
                <a:latin typeface="Arial" pitchFamily="34" charset="0"/>
                <a:ea typeface="Arial" pitchFamily="34" charset="-122"/>
                <a:cs typeface="Arial" pitchFamily="34" charset="-120"/>
              </a:rPr>
              <a:t> it decided</a:t>
            </a:r>
            <a:endParaRPr lang="en-US" sz="1300" dirty="0"/>
          </a:p>
        </p:txBody>
      </p:sp>
      <p:sp>
        <p:nvSpPr>
          <p:cNvPr id="9" name="Shape 6"/>
          <p:cNvSpPr/>
          <p:nvPr/>
        </p:nvSpPr>
        <p:spPr>
          <a:xfrm>
            <a:off x="6223000" y="2953389"/>
            <a:ext cx="5156200" cy="558800"/>
          </a:xfrm>
          <a:prstGeom prst="roundRect">
            <a:avLst>
              <a:gd name="adj" fmla="val 18182"/>
            </a:avLst>
          </a:prstGeom>
          <a:solidFill>
            <a:srgbClr val="3A2412"/>
          </a:solidFill>
          <a:ln/>
        </p:spPr>
        <p:txBody>
          <a:bodyPr/>
          <a:lstStyle/>
          <a:p>
            <a:endParaRPr lang="en-US"/>
          </a:p>
        </p:txBody>
      </p:sp>
      <p:pic>
        <p:nvPicPr>
          <p:cNvPr id="10" name="Image 1" descr="Verified"/>
          <p:cNvPicPr>
            <a:picLocks noChangeAspect="1"/>
          </p:cNvPicPr>
          <p:nvPr/>
        </p:nvPicPr>
        <p:blipFill>
          <a:blip r:embed="rId4"/>
          <a:srcRect/>
          <a:stretch/>
        </p:blipFill>
        <p:spPr>
          <a:xfrm>
            <a:off x="6400800" y="3105789"/>
            <a:ext cx="254000" cy="254000"/>
          </a:xfrm>
          <a:prstGeom prst="rect">
            <a:avLst/>
          </a:prstGeom>
        </p:spPr>
      </p:pic>
      <p:sp>
        <p:nvSpPr>
          <p:cNvPr id="11" name="Text 7"/>
          <p:cNvSpPr/>
          <p:nvPr/>
        </p:nvSpPr>
        <p:spPr>
          <a:xfrm>
            <a:off x="6756400" y="3125632"/>
            <a:ext cx="4622800" cy="239713"/>
          </a:xfrm>
          <a:prstGeom prst="rect">
            <a:avLst/>
          </a:prstGeom>
          <a:noFill/>
          <a:ln/>
        </p:spPr>
        <p:txBody>
          <a:bodyPr wrap="square" lIns="0" tIns="0" rIns="0" bIns="0" rtlCol="0" anchor="t">
            <a:normAutofit/>
          </a:bodyPr>
          <a:lstStyle/>
          <a:p>
            <a:pPr marL="0" indent="0" algn="l">
              <a:lnSpc>
                <a:spcPts val="1688"/>
              </a:lnSpc>
              <a:buNone/>
            </a:pPr>
            <a:r>
              <a:rPr lang="en-US" sz="1250" dirty="0">
                <a:solidFill>
                  <a:srgbClr val="F6EFE1"/>
                </a:solidFill>
                <a:latin typeface="Arial" pitchFamily="34" charset="0"/>
                <a:ea typeface="Arial" pitchFamily="34" charset="-122"/>
                <a:cs typeface="Arial" pitchFamily="34" charset="-120"/>
              </a:rPr>
              <a:t>Output: the most accurate system, for exporters and certifiers.</a:t>
            </a:r>
            <a:endParaRPr lang="en-US" sz="1250" dirty="0"/>
          </a:p>
        </p:txBody>
      </p:sp>
      <p:sp>
        <p:nvSpPr>
          <p:cNvPr id="12" name="Shape 8"/>
          <p:cNvSpPr/>
          <p:nvPr/>
        </p:nvSpPr>
        <p:spPr>
          <a:xfrm>
            <a:off x="812800" y="3766189"/>
            <a:ext cx="10566400" cy="520700"/>
          </a:xfrm>
          <a:prstGeom prst="roundRect">
            <a:avLst>
              <a:gd name="adj" fmla="val 17073"/>
            </a:avLst>
          </a:prstGeom>
          <a:solidFill>
            <a:srgbClr val="EAF0E4"/>
          </a:solidFill>
          <a:ln/>
        </p:spPr>
        <p:txBody>
          <a:bodyPr/>
          <a:lstStyle/>
          <a:p>
            <a:endParaRPr lang="en-US"/>
          </a:p>
        </p:txBody>
      </p:sp>
      <p:pic>
        <p:nvPicPr>
          <p:cNvPr id="13" name="Image 2" descr="Lightbulb"/>
          <p:cNvPicPr>
            <a:picLocks noChangeAspect="1"/>
          </p:cNvPicPr>
          <p:nvPr/>
        </p:nvPicPr>
        <p:blipFill>
          <a:blip r:embed="rId5"/>
          <a:srcRect/>
          <a:stretch/>
        </p:blipFill>
        <p:spPr>
          <a:xfrm>
            <a:off x="990600" y="3905889"/>
            <a:ext cx="241300" cy="241300"/>
          </a:xfrm>
          <a:prstGeom prst="rect">
            <a:avLst/>
          </a:prstGeom>
        </p:spPr>
      </p:pic>
      <p:sp>
        <p:nvSpPr>
          <p:cNvPr id="14" name="Text 9"/>
          <p:cNvSpPr/>
          <p:nvPr/>
        </p:nvSpPr>
        <p:spPr>
          <a:xfrm>
            <a:off x="1333500" y="3923667"/>
            <a:ext cx="1016393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A2412"/>
                </a:solidFill>
                <a:latin typeface="Arial" pitchFamily="34" charset="0"/>
                <a:ea typeface="Arial" pitchFamily="34" charset="-122"/>
                <a:cs typeface="Arial" pitchFamily="34" charset="-120"/>
              </a:rPr>
              <a:t>The fusion model</a:t>
            </a:r>
            <a:r>
              <a:rPr lang="en-US" sz="1200" dirty="0">
                <a:solidFill>
                  <a:srgbClr val="3A2412"/>
                </a:solidFill>
                <a:latin typeface="Arial" pitchFamily="34" charset="0"/>
                <a:ea typeface="Arial" pitchFamily="34" charset="-122"/>
                <a:cs typeface="Arial" pitchFamily="34" charset="-120"/>
              </a:rPr>
              <a:t> joins all three methods — like asking three experts and combining their answers for one reliable result.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E3C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A16"/>
                </a:solidFill>
                <a:latin typeface="Arial" pitchFamily="34" charset="0"/>
                <a:ea typeface="Arial" pitchFamily="34" charset="-122"/>
                <a:cs typeface="Arial" pitchFamily="34" charset="-120"/>
              </a:rPr>
              <a:t>WHAT WE DELIVER</a:t>
            </a:r>
            <a:endParaRPr lang="en-US" sz="1200" dirty="0"/>
          </a:p>
        </p:txBody>
      </p:sp>
      <p:sp>
        <p:nvSpPr>
          <p:cNvPr id="3" name="Text 1"/>
          <p:cNvSpPr>
            <a:spLocks noGrp="1"/>
          </p:cNvSpPr>
          <p:nvPr>
            <p:ph type="title"/>
          </p:nvPr>
        </p:nvSpPr>
        <p:spPr>
          <a:xfrm>
            <a:off x="812800" y="1102364"/>
            <a:ext cx="10883392" cy="458470"/>
          </a:xfrm>
          <a:prstGeom prst="rect">
            <a:avLst/>
          </a:prstGeom>
          <a:noFill/>
          <a:ln/>
        </p:spPr>
        <p:txBody>
          <a:bodyPr wrap="square" lIns="0" tIns="0" rIns="0" bIns="0" rtlCol="0" anchor="t">
            <a:normAutofit/>
          </a:bodyPr>
          <a:lstStyle/>
          <a:p>
            <a:pPr marL="0" indent="0" algn="l">
              <a:lnSpc>
                <a:spcPts val="3410"/>
              </a:lnSpc>
              <a:buNone/>
            </a:pPr>
            <a:r>
              <a:rPr lang="en-US" sz="3100" b="1" i="0" dirty="0">
                <a:solidFill>
                  <a:srgbClr val="3A2412"/>
                </a:solidFill>
                <a:latin typeface="Georgia" pitchFamily="18" charset="0"/>
                <a:ea typeface="Georgia" pitchFamily="18" charset="-122"/>
                <a:cs typeface="Georgia" pitchFamily="18" charset="-120"/>
              </a:rPr>
              <a:t>The right test for each user</a:t>
            </a:r>
            <a:endParaRPr lang="en-US" sz="3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99589"/>
          <a:ext cx="10556240" cy="1480820"/>
        </p:xfrm>
        <a:graphic>
          <a:graphicData uri="http://schemas.openxmlformats.org/drawingml/2006/table">
            <a:tbl>
              <a:tblPr/>
              <a:tblGrid>
                <a:gridCol w="2744622">
                  <a:extLst>
                    <a:ext uri="{9D8B030D-6E8A-4147-A177-3AD203B41FA5}">
                      <a16:colId xmlns:a16="http://schemas.microsoft.com/office/drawing/2014/main" val="20000"/>
                    </a:ext>
                  </a:extLst>
                </a:gridCol>
                <a:gridCol w="3589122">
                  <a:extLst>
                    <a:ext uri="{9D8B030D-6E8A-4147-A177-3AD203B41FA5}">
                      <a16:colId xmlns:a16="http://schemas.microsoft.com/office/drawing/2014/main" val="20001"/>
                    </a:ext>
                  </a:extLst>
                </a:gridCol>
                <a:gridCol w="4222496">
                  <a:extLst>
                    <a:ext uri="{9D8B030D-6E8A-4147-A177-3AD203B41FA5}">
                      <a16:colId xmlns:a16="http://schemas.microsoft.com/office/drawing/2014/main" val="20002"/>
                    </a:ext>
                  </a:extLst>
                </a:gridCol>
              </a:tblGrid>
              <a:tr h="370205">
                <a:tc>
                  <a:txBody>
                    <a:bodyPr/>
                    <a:lstStyle/>
                    <a:p>
                      <a:pPr marL="0" indent="0">
                        <a:lnSpc>
                          <a:spcPts val="1890"/>
                        </a:lnSpc>
                        <a:buNone/>
                      </a:pPr>
                      <a:r>
                        <a:rPr lang="en-US" sz="1350" b="1" dirty="0">
                          <a:solidFill>
                            <a:srgbClr val="F6EFE1"/>
                          </a:solidFill>
                          <a:latin typeface="Arial" pitchFamily="34" charset="0"/>
                          <a:ea typeface="Arial" pitchFamily="34" charset="-122"/>
                          <a:cs typeface="Arial" pitchFamily="34" charset="-120"/>
                        </a:rPr>
                        <a:t>Level</a:t>
                      </a:r>
                      <a:endParaRPr lang="en-US" sz="1350" dirty="0">
                        <a:latin typeface="Arial" charset="0"/>
                        <a:ea typeface="Arial" charset="0"/>
                        <a:cs typeface="Arial" charset="0"/>
                      </a:endParaRPr>
                    </a:p>
                  </a:txBody>
                  <a:tcPr marL="60007" marR="60007" marT="60007" marB="60007">
                    <a:lnL w="12700" cap="flat" cmpd="sng" algn="ctr">
                      <a:solidFill>
                        <a:srgbClr val="BFB5A6"/>
                      </a:solidFill>
                      <a:prstDash val="solid"/>
                      <a:round/>
                      <a:headEnd type="none" w="med" len="med"/>
                      <a:tailEnd type="none" w="med" len="med"/>
                    </a:lnL>
                    <a:lnR w="12700" cap="flat" cmpd="sng" algn="ctr">
                      <a:solidFill>
                        <a:srgbClr val="322012"/>
                      </a:solidFill>
                      <a:prstDash val="solid"/>
                      <a:round/>
                      <a:headEnd type="none" w="med" len="med"/>
                      <a:tailEnd type="none" w="med" len="med"/>
                    </a:lnR>
                    <a:lnT w="12700" cap="flat" cmpd="sng" algn="ctr">
                      <a:solidFill>
                        <a:srgbClr val="BFB5A6"/>
                      </a:solidFill>
                      <a:prstDash val="solid"/>
                      <a:round/>
                      <a:headEnd type="none" w="med" len="med"/>
                      <a:tailEnd type="none" w="med" len="med"/>
                    </a:lnT>
                    <a:lnB w="12700" cap="flat" cmpd="sng" algn="ctr">
                      <a:solidFill>
                        <a:srgbClr val="322012"/>
                      </a:solidFill>
                      <a:prstDash val="solid"/>
                      <a:round/>
                      <a:headEnd type="none" w="med" len="med"/>
                      <a:tailEnd type="none" w="med" len="med"/>
                    </a:lnB>
                    <a:solidFill>
                      <a:srgbClr val="3A2412"/>
                    </a:solidFill>
                  </a:tcPr>
                </a:tc>
                <a:tc>
                  <a:txBody>
                    <a:bodyPr/>
                    <a:lstStyle/>
                    <a:p>
                      <a:pPr marL="0" indent="0">
                        <a:lnSpc>
                          <a:spcPts val="1890"/>
                        </a:lnSpc>
                        <a:buNone/>
                      </a:pPr>
                      <a:r>
                        <a:rPr lang="en-US" sz="1350" b="1" dirty="0">
                          <a:solidFill>
                            <a:srgbClr val="F6EFE1"/>
                          </a:solidFill>
                          <a:latin typeface="Arial" pitchFamily="34" charset="0"/>
                          <a:ea typeface="Arial" pitchFamily="34" charset="-122"/>
                          <a:cs typeface="Arial" pitchFamily="34" charset="-120"/>
                        </a:rPr>
                        <a:t>Who uses it</a:t>
                      </a:r>
                      <a:endParaRPr lang="en-US" sz="1350" dirty="0">
                        <a:latin typeface="Arial" charset="0"/>
                        <a:ea typeface="Arial" charset="0"/>
                        <a:cs typeface="Arial" charset="0"/>
                      </a:endParaRPr>
                    </a:p>
                  </a:txBody>
                  <a:tcPr marL="60007" marR="60007" marT="60007" marB="60007">
                    <a:lnL w="12700" cap="flat" cmpd="sng" algn="ctr">
                      <a:solidFill>
                        <a:srgbClr val="322012"/>
                      </a:solidFill>
                      <a:prstDash val="solid"/>
                      <a:round/>
                      <a:headEnd type="none" w="med" len="med"/>
                      <a:tailEnd type="none" w="med" len="med"/>
                    </a:lnL>
                    <a:lnR w="12700" cap="flat" cmpd="sng" algn="ctr">
                      <a:solidFill>
                        <a:srgbClr val="322012"/>
                      </a:solidFill>
                      <a:prstDash val="solid"/>
                      <a:round/>
                      <a:headEnd type="none" w="med" len="med"/>
                      <a:tailEnd type="none" w="med" len="med"/>
                    </a:lnR>
                    <a:lnT w="12700" cap="flat" cmpd="sng" algn="ctr">
                      <a:solidFill>
                        <a:srgbClr val="BFB5A6"/>
                      </a:solidFill>
                      <a:prstDash val="solid"/>
                      <a:round/>
                      <a:headEnd type="none" w="med" len="med"/>
                      <a:tailEnd type="none" w="med" len="med"/>
                    </a:lnT>
                    <a:lnB w="12700" cap="flat" cmpd="sng" algn="ctr">
                      <a:solidFill>
                        <a:srgbClr val="322012"/>
                      </a:solidFill>
                      <a:prstDash val="solid"/>
                      <a:round/>
                      <a:headEnd type="none" w="med" len="med"/>
                      <a:tailEnd type="none" w="med" len="med"/>
                    </a:lnB>
                    <a:solidFill>
                      <a:srgbClr val="3A2412"/>
                    </a:solidFill>
                  </a:tcPr>
                </a:tc>
                <a:tc>
                  <a:txBody>
                    <a:bodyPr/>
                    <a:lstStyle/>
                    <a:p>
                      <a:pPr marL="0" indent="0">
                        <a:lnSpc>
                          <a:spcPts val="1890"/>
                        </a:lnSpc>
                        <a:buNone/>
                      </a:pPr>
                      <a:r>
                        <a:rPr lang="en-US" sz="1350" b="1" dirty="0">
                          <a:solidFill>
                            <a:srgbClr val="F6EFE1"/>
                          </a:solidFill>
                          <a:latin typeface="Arial" pitchFamily="34" charset="0"/>
                          <a:ea typeface="Arial" pitchFamily="34" charset="-122"/>
                          <a:cs typeface="Arial" pitchFamily="34" charset="-120"/>
                        </a:rPr>
                        <a:t>Method</a:t>
                      </a:r>
                      <a:endParaRPr lang="en-US" sz="1350" dirty="0">
                        <a:latin typeface="Arial" charset="0"/>
                        <a:ea typeface="Arial" charset="0"/>
                        <a:cs typeface="Arial" charset="0"/>
                      </a:endParaRPr>
                    </a:p>
                  </a:txBody>
                  <a:tcPr marL="60007" marR="60007" marT="60007" marB="60007">
                    <a:lnL w="12700" cap="flat" cmpd="sng" algn="ctr">
                      <a:solidFill>
                        <a:srgbClr val="322012"/>
                      </a:solidFill>
                      <a:prstDash val="solid"/>
                      <a:round/>
                      <a:headEnd type="none" w="med" len="med"/>
                      <a:tailEnd type="none" w="med" len="med"/>
                    </a:lnL>
                    <a:lnR w="12700" cap="flat" cmpd="sng" algn="ctr">
                      <a:solidFill>
                        <a:srgbClr val="322012"/>
                      </a:solidFill>
                      <a:prstDash val="solid"/>
                      <a:round/>
                      <a:headEnd type="none" w="med" len="med"/>
                      <a:tailEnd type="none" w="med" len="med"/>
                    </a:lnR>
                    <a:lnT w="12700" cap="flat" cmpd="sng" algn="ctr">
                      <a:solidFill>
                        <a:srgbClr val="BFB5A6"/>
                      </a:solidFill>
                      <a:prstDash val="solid"/>
                      <a:round/>
                      <a:headEnd type="none" w="med" len="med"/>
                      <a:tailEnd type="none" w="med" len="med"/>
                    </a:lnT>
                    <a:lnB w="12700" cap="flat" cmpd="sng" algn="ctr">
                      <a:solidFill>
                        <a:srgbClr val="322012"/>
                      </a:solidFill>
                      <a:prstDash val="solid"/>
                      <a:round/>
                      <a:headEnd type="none" w="med" len="med"/>
                      <a:tailEnd type="none" w="med" len="med"/>
                    </a:lnB>
                    <a:solidFill>
                      <a:srgbClr val="3A2412"/>
                    </a:solidFill>
                  </a:tcPr>
                </a:tc>
                <a:extLst>
                  <a:ext uri="{0D108BD9-81ED-4DB2-BD59-A6C34878D82A}">
                    <a16:rowId xmlns:a16="http://schemas.microsoft.com/office/drawing/2014/main" val="10000"/>
                  </a:ext>
                </a:extLst>
              </a:tr>
              <a:tr h="370205">
                <a:tc>
                  <a:txBody>
                    <a:bodyPr/>
                    <a:lstStyle/>
                    <a:p>
                      <a:pPr marL="0" indent="0">
                        <a:lnSpc>
                          <a:spcPts val="1890"/>
                        </a:lnSpc>
                        <a:buNone/>
                      </a:pPr>
                      <a:r>
                        <a:rPr lang="en-US" sz="1350" dirty="0">
                          <a:solidFill>
                            <a:srgbClr val="3A2412"/>
                          </a:solidFill>
                          <a:latin typeface="Arial" pitchFamily="34" charset="0"/>
                          <a:ea typeface="Arial" pitchFamily="34" charset="-122"/>
                          <a:cs typeface="Arial" pitchFamily="34" charset="-120"/>
                        </a:rPr>
                        <a:t>Cheapest</a:t>
                      </a:r>
                      <a:endParaRPr lang="en-US" sz="1350" dirty="0">
                        <a:latin typeface="Arial" charset="0"/>
                        <a:ea typeface="Arial" charset="0"/>
                        <a:cs typeface="Arial" charset="0"/>
                      </a:endParaRPr>
                    </a:p>
                  </a:txBody>
                  <a:tcPr marL="60007" marR="60007" marT="60007" marB="60007">
                    <a:lnL w="12700" cap="flat" cmpd="sng" algn="ctr">
                      <a:solidFill>
                        <a:srgbClr val="BFB5A6"/>
                      </a:solidFill>
                      <a:prstDash val="solid"/>
                      <a:round/>
                      <a:headEnd type="none" w="med" len="med"/>
                      <a:tailEnd type="none" w="med" len="med"/>
                    </a:lnL>
                    <a:lnR w="12700" cap="flat" cmpd="sng" algn="ctr">
                      <a:solidFill>
                        <a:srgbClr val="C9C5BC"/>
                      </a:solidFill>
                      <a:prstDash val="solid"/>
                      <a:round/>
                      <a:headEnd type="none" w="med" len="med"/>
                      <a:tailEnd type="none" w="med" len="med"/>
                    </a:lnR>
                    <a:lnT w="12700" cap="flat" cmpd="sng" algn="ctr">
                      <a:solidFill>
                        <a:srgbClr val="322012"/>
                      </a:solidFill>
                      <a:prstDash val="solid"/>
                      <a:round/>
                      <a:headEnd type="none" w="med" len="med"/>
                      <a:tailEnd type="none" w="med" len="med"/>
                    </a:lnT>
                    <a:lnB w="12700" cap="flat" cmpd="sng" algn="ctr">
                      <a:solidFill>
                        <a:srgbClr val="C9C5BC"/>
                      </a:solidFill>
                      <a:prstDash val="solid"/>
                      <a:round/>
                      <a:headEnd type="none" w="med" len="med"/>
                      <a:tailEnd type="none" w="med" len="med"/>
                    </a:lnB>
                    <a:solidFill>
                      <a:srgbClr val="FCF7EC"/>
                    </a:solidFill>
                  </a:tcPr>
                </a:tc>
                <a:tc>
                  <a:txBody>
                    <a:bodyPr/>
                    <a:lstStyle/>
                    <a:p>
                      <a:pPr marL="0" indent="0">
                        <a:lnSpc>
                          <a:spcPts val="1890"/>
                        </a:lnSpc>
                        <a:buNone/>
                      </a:pPr>
                      <a:r>
                        <a:rPr lang="en-US" sz="1350" dirty="0">
                          <a:solidFill>
                            <a:srgbClr val="3A2412"/>
                          </a:solidFill>
                          <a:latin typeface="Arial" pitchFamily="34" charset="0"/>
                          <a:ea typeface="Arial" pitchFamily="34" charset="-122"/>
                          <a:cs typeface="Arial" pitchFamily="34" charset="-120"/>
                        </a:rPr>
                        <a:t>Consumers</a:t>
                      </a:r>
                      <a:endParaRPr lang="en-US" sz="1350" dirty="0">
                        <a:latin typeface="Arial" charset="0"/>
                        <a:ea typeface="Arial" charset="0"/>
                        <a:cs typeface="Arial" charset="0"/>
                      </a:endParaRPr>
                    </a:p>
                  </a:txBody>
                  <a:tcPr marL="60007" marR="60007" marT="60007" marB="60007">
                    <a:lnL w="12700" cap="flat" cmpd="sng" algn="ctr">
                      <a:solidFill>
                        <a:srgbClr val="C9C5BC"/>
                      </a:solidFill>
                      <a:prstDash val="solid"/>
                      <a:round/>
                      <a:headEnd type="none" w="med" len="med"/>
                      <a:tailEnd type="none" w="med" len="med"/>
                    </a:lnL>
                    <a:lnR w="12700" cap="flat" cmpd="sng" algn="ctr">
                      <a:solidFill>
                        <a:srgbClr val="C9C5BC"/>
                      </a:solidFill>
                      <a:prstDash val="solid"/>
                      <a:round/>
                      <a:headEnd type="none" w="med" len="med"/>
                      <a:tailEnd type="none" w="med" len="med"/>
                    </a:lnR>
                    <a:lnT w="12700" cap="flat" cmpd="sng" algn="ctr">
                      <a:solidFill>
                        <a:srgbClr val="322012"/>
                      </a:solidFill>
                      <a:prstDash val="solid"/>
                      <a:round/>
                      <a:headEnd type="none" w="med" len="med"/>
                      <a:tailEnd type="none" w="med" len="med"/>
                    </a:lnT>
                    <a:lnB w="12700" cap="flat" cmpd="sng" algn="ctr">
                      <a:solidFill>
                        <a:srgbClr val="C9C5BC"/>
                      </a:solidFill>
                      <a:prstDash val="solid"/>
                      <a:round/>
                      <a:headEnd type="none" w="med" len="med"/>
                      <a:tailEnd type="none" w="med" len="med"/>
                    </a:lnB>
                    <a:solidFill>
                      <a:srgbClr val="FCF7EC"/>
                    </a:solidFill>
                  </a:tcPr>
                </a:tc>
                <a:tc>
                  <a:txBody>
                    <a:bodyPr/>
                    <a:lstStyle/>
                    <a:p>
                      <a:pPr marL="0" indent="0">
                        <a:lnSpc>
                          <a:spcPts val="1890"/>
                        </a:lnSpc>
                        <a:buNone/>
                      </a:pPr>
                      <a:r>
                        <a:rPr lang="en-US" sz="1350" dirty="0">
                          <a:solidFill>
                            <a:srgbClr val="3A2412"/>
                          </a:solidFill>
                          <a:latin typeface="Arial" pitchFamily="34" charset="0"/>
                          <a:ea typeface="Arial" pitchFamily="34" charset="-122"/>
                          <a:cs typeface="Arial" pitchFamily="34" charset="-120"/>
                        </a:rPr>
                        <a:t>Phone camera only</a:t>
                      </a:r>
                      <a:endParaRPr lang="en-US" sz="1350" dirty="0">
                        <a:latin typeface="Arial" charset="0"/>
                        <a:ea typeface="Arial" charset="0"/>
                        <a:cs typeface="Arial" charset="0"/>
                      </a:endParaRPr>
                    </a:p>
                  </a:txBody>
                  <a:tcPr marL="60007" marR="60007" marT="60007" marB="60007">
                    <a:lnL w="12700" cap="flat" cmpd="sng" algn="ctr">
                      <a:solidFill>
                        <a:srgbClr val="C9C5BC"/>
                      </a:solidFill>
                      <a:prstDash val="solid"/>
                      <a:round/>
                      <a:headEnd type="none" w="med" len="med"/>
                      <a:tailEnd type="none" w="med" len="med"/>
                    </a:lnL>
                    <a:lnR w="12700" cap="flat" cmpd="sng" algn="ctr">
                      <a:solidFill>
                        <a:srgbClr val="C9C5BC"/>
                      </a:solidFill>
                      <a:prstDash val="solid"/>
                      <a:round/>
                      <a:headEnd type="none" w="med" len="med"/>
                      <a:tailEnd type="none" w="med" len="med"/>
                    </a:lnR>
                    <a:lnT w="12700" cap="flat" cmpd="sng" algn="ctr">
                      <a:solidFill>
                        <a:srgbClr val="322012"/>
                      </a:solidFill>
                      <a:prstDash val="solid"/>
                      <a:round/>
                      <a:headEnd type="none" w="med" len="med"/>
                      <a:tailEnd type="none" w="med" len="med"/>
                    </a:lnT>
                    <a:lnB w="12700" cap="flat" cmpd="sng" algn="ctr">
                      <a:solidFill>
                        <a:srgbClr val="C9C5BC"/>
                      </a:solidFill>
                      <a:prstDash val="solid"/>
                      <a:round/>
                      <a:headEnd type="none" w="med" len="med"/>
                      <a:tailEnd type="none" w="med" len="med"/>
                    </a:lnB>
                    <a:solidFill>
                      <a:srgbClr val="FCF7EC"/>
                    </a:solidFill>
                  </a:tcPr>
                </a:tc>
                <a:extLst>
                  <a:ext uri="{0D108BD9-81ED-4DB2-BD59-A6C34878D82A}">
                    <a16:rowId xmlns:a16="http://schemas.microsoft.com/office/drawing/2014/main" val="10001"/>
                  </a:ext>
                </a:extLst>
              </a:tr>
              <a:tr h="370205">
                <a:tc>
                  <a:txBody>
                    <a:bodyPr/>
                    <a:lstStyle/>
                    <a:p>
                      <a:pPr marL="0" indent="0">
                        <a:lnSpc>
                          <a:spcPts val="1890"/>
                        </a:lnSpc>
                        <a:buNone/>
                      </a:pPr>
                      <a:r>
                        <a:rPr lang="en-US" sz="1350" dirty="0">
                          <a:solidFill>
                            <a:srgbClr val="3A2412"/>
                          </a:solidFill>
                          <a:latin typeface="Arial" pitchFamily="34" charset="0"/>
                          <a:ea typeface="Arial" pitchFamily="34" charset="-122"/>
                          <a:cs typeface="Arial" pitchFamily="34" charset="-120"/>
                        </a:rPr>
                        <a:t>Middle</a:t>
                      </a:r>
                      <a:endParaRPr lang="en-US" sz="1350" dirty="0">
                        <a:latin typeface="Arial" charset="0"/>
                        <a:ea typeface="Arial" charset="0"/>
                        <a:cs typeface="Arial" charset="0"/>
                      </a:endParaRPr>
                    </a:p>
                  </a:txBody>
                  <a:tcPr marL="60007" marR="60007" marT="60007" marB="60007">
                    <a:lnL w="12700" cap="flat" cmpd="sng" algn="ctr">
                      <a:solidFill>
                        <a:srgbClr val="BFB5A6"/>
                      </a:solidFill>
                      <a:prstDash val="solid"/>
                      <a:round/>
                      <a:headEnd type="none" w="med" len="med"/>
                      <a:tailEnd type="none" w="med" len="med"/>
                    </a:lnL>
                    <a:lnR w="12700" cap="flat" cmpd="sng" algn="ctr">
                      <a:solidFill>
                        <a:srgbClr val="C1B9A8"/>
                      </a:solidFill>
                      <a:prstDash val="solid"/>
                      <a:round/>
                      <a:headEnd type="none" w="med" len="med"/>
                      <a:tailEnd type="none" w="med" len="med"/>
                    </a:lnR>
                    <a:lnT w="12700" cap="flat" cmpd="sng" algn="ctr">
                      <a:solidFill>
                        <a:srgbClr val="C9C5BC"/>
                      </a:solidFill>
                      <a:prstDash val="solid"/>
                      <a:round/>
                      <a:headEnd type="none" w="med" len="med"/>
                      <a:tailEnd type="none" w="med" len="med"/>
                    </a:lnT>
                    <a:lnB w="12700" cap="flat" cmpd="sng" algn="ctr">
                      <a:solidFill>
                        <a:srgbClr val="C1B9A8"/>
                      </a:solidFill>
                      <a:prstDash val="solid"/>
                      <a:round/>
                      <a:headEnd type="none" w="med" len="med"/>
                      <a:tailEnd type="none" w="med" len="med"/>
                    </a:lnB>
                    <a:solidFill>
                      <a:srgbClr val="F2E7D2"/>
                    </a:solidFill>
                  </a:tcPr>
                </a:tc>
                <a:tc>
                  <a:txBody>
                    <a:bodyPr/>
                    <a:lstStyle/>
                    <a:p>
                      <a:pPr marL="0" indent="0">
                        <a:lnSpc>
                          <a:spcPts val="1890"/>
                        </a:lnSpc>
                        <a:buNone/>
                      </a:pPr>
                      <a:r>
                        <a:rPr lang="en-US" sz="1350" dirty="0">
                          <a:solidFill>
                            <a:srgbClr val="3A2412"/>
                          </a:solidFill>
                          <a:latin typeface="Arial" pitchFamily="34" charset="0"/>
                          <a:ea typeface="Arial" pitchFamily="34" charset="-122"/>
                          <a:cs typeface="Arial" pitchFamily="34" charset="-120"/>
                        </a:rPr>
                        <a:t>Collectors, shops</a:t>
                      </a:r>
                      <a:endParaRPr lang="en-US" sz="1350" dirty="0">
                        <a:latin typeface="Arial" charset="0"/>
                        <a:ea typeface="Arial" charset="0"/>
                        <a:cs typeface="Arial" charset="0"/>
                      </a:endParaRPr>
                    </a:p>
                  </a:txBody>
                  <a:tcPr marL="60007" marR="60007" marT="60007" marB="60007">
                    <a:lnL w="12700" cap="flat" cmpd="sng" algn="ctr">
                      <a:solidFill>
                        <a:srgbClr val="C1B9A8"/>
                      </a:solidFill>
                      <a:prstDash val="solid"/>
                      <a:round/>
                      <a:headEnd type="none" w="med" len="med"/>
                      <a:tailEnd type="none" w="med" len="med"/>
                    </a:lnL>
                    <a:lnR w="12700" cap="flat" cmpd="sng" algn="ctr">
                      <a:solidFill>
                        <a:srgbClr val="C1B9A8"/>
                      </a:solidFill>
                      <a:prstDash val="solid"/>
                      <a:round/>
                      <a:headEnd type="none" w="med" len="med"/>
                      <a:tailEnd type="none" w="med" len="med"/>
                    </a:lnR>
                    <a:lnT w="12700" cap="flat" cmpd="sng" algn="ctr">
                      <a:solidFill>
                        <a:srgbClr val="C9C5BC"/>
                      </a:solidFill>
                      <a:prstDash val="solid"/>
                      <a:round/>
                      <a:headEnd type="none" w="med" len="med"/>
                      <a:tailEnd type="none" w="med" len="med"/>
                    </a:lnT>
                    <a:lnB w="12700" cap="flat" cmpd="sng" algn="ctr">
                      <a:solidFill>
                        <a:srgbClr val="C1B9A8"/>
                      </a:solidFill>
                      <a:prstDash val="solid"/>
                      <a:round/>
                      <a:headEnd type="none" w="med" len="med"/>
                      <a:tailEnd type="none" w="med" len="med"/>
                    </a:lnB>
                    <a:solidFill>
                      <a:srgbClr val="F2E7D2"/>
                    </a:solidFill>
                  </a:tcPr>
                </a:tc>
                <a:tc>
                  <a:txBody>
                    <a:bodyPr/>
                    <a:lstStyle/>
                    <a:p>
                      <a:pPr marL="0" indent="0">
                        <a:lnSpc>
                          <a:spcPts val="1890"/>
                        </a:lnSpc>
                        <a:buNone/>
                      </a:pPr>
                      <a:r>
                        <a:rPr lang="en-US" sz="1350" dirty="0">
                          <a:solidFill>
                            <a:srgbClr val="3A2412"/>
                          </a:solidFill>
                          <a:latin typeface="Arial" pitchFamily="34" charset="0"/>
                          <a:ea typeface="Arial" pitchFamily="34" charset="-122"/>
                          <a:cs typeface="Arial" pitchFamily="34" charset="-120"/>
                        </a:rPr>
                        <a:t>Handheld sensor device</a:t>
                      </a:r>
                      <a:endParaRPr lang="en-US" sz="1350" dirty="0">
                        <a:latin typeface="Arial" charset="0"/>
                        <a:ea typeface="Arial" charset="0"/>
                        <a:cs typeface="Arial" charset="0"/>
                      </a:endParaRPr>
                    </a:p>
                  </a:txBody>
                  <a:tcPr marL="60007" marR="60007" marT="60007" marB="60007">
                    <a:lnL w="12700" cap="flat" cmpd="sng" algn="ctr">
                      <a:solidFill>
                        <a:srgbClr val="C1B9A8"/>
                      </a:solidFill>
                      <a:prstDash val="solid"/>
                      <a:round/>
                      <a:headEnd type="none" w="med" len="med"/>
                      <a:tailEnd type="none" w="med" len="med"/>
                    </a:lnL>
                    <a:lnR w="12700" cap="flat" cmpd="sng" algn="ctr">
                      <a:solidFill>
                        <a:srgbClr val="C1B9A8"/>
                      </a:solidFill>
                      <a:prstDash val="solid"/>
                      <a:round/>
                      <a:headEnd type="none" w="med" len="med"/>
                      <a:tailEnd type="none" w="med" len="med"/>
                    </a:lnR>
                    <a:lnT w="12700" cap="flat" cmpd="sng" algn="ctr">
                      <a:solidFill>
                        <a:srgbClr val="C9C5BC"/>
                      </a:solidFill>
                      <a:prstDash val="solid"/>
                      <a:round/>
                      <a:headEnd type="none" w="med" len="med"/>
                      <a:tailEnd type="none" w="med" len="med"/>
                    </a:lnT>
                    <a:lnB w="12700" cap="flat" cmpd="sng" algn="ctr">
                      <a:solidFill>
                        <a:srgbClr val="C1B9A8"/>
                      </a:solidFill>
                      <a:prstDash val="solid"/>
                      <a:round/>
                      <a:headEnd type="none" w="med" len="med"/>
                      <a:tailEnd type="none" w="med" len="med"/>
                    </a:lnB>
                    <a:solidFill>
                      <a:srgbClr val="F2E7D2"/>
                    </a:solidFill>
                  </a:tcPr>
                </a:tc>
                <a:extLst>
                  <a:ext uri="{0D108BD9-81ED-4DB2-BD59-A6C34878D82A}">
                    <a16:rowId xmlns:a16="http://schemas.microsoft.com/office/drawing/2014/main" val="10002"/>
                  </a:ext>
                </a:extLst>
              </a:tr>
              <a:tr h="370205">
                <a:tc>
                  <a:txBody>
                    <a:bodyPr/>
                    <a:lstStyle/>
                    <a:p>
                      <a:pPr marL="0" indent="0">
                        <a:lnSpc>
                          <a:spcPts val="1890"/>
                        </a:lnSpc>
                        <a:buNone/>
                      </a:pPr>
                      <a:r>
                        <a:rPr lang="en-US" sz="1350" dirty="0">
                          <a:solidFill>
                            <a:srgbClr val="3A2412"/>
                          </a:solidFill>
                          <a:latin typeface="Arial" pitchFamily="34" charset="0"/>
                          <a:ea typeface="Arial" pitchFamily="34" charset="-122"/>
                          <a:cs typeface="Arial" pitchFamily="34" charset="-120"/>
                        </a:rPr>
                        <a:t>Best</a:t>
                      </a:r>
                      <a:endParaRPr lang="en-US" sz="1350" dirty="0">
                        <a:latin typeface="Arial" charset="0"/>
                        <a:ea typeface="Arial" charset="0"/>
                        <a:cs typeface="Arial" charset="0"/>
                      </a:endParaRPr>
                    </a:p>
                  </a:txBody>
                  <a:tcPr marL="60007" marR="60007" marT="60007" marB="60007">
                    <a:lnL w="12700" cap="flat" cmpd="sng" algn="ctr">
                      <a:solidFill>
                        <a:srgbClr val="BFB5A6"/>
                      </a:solidFill>
                      <a:prstDash val="solid"/>
                      <a:round/>
                      <a:headEnd type="none" w="med" len="med"/>
                      <a:tailEnd type="none" w="med" len="med"/>
                    </a:lnL>
                    <a:lnR w="12700" cap="flat" cmpd="sng" algn="ctr">
                      <a:solidFill>
                        <a:srgbClr val="C9C5BC"/>
                      </a:solidFill>
                      <a:prstDash val="solid"/>
                      <a:round/>
                      <a:headEnd type="none" w="med" len="med"/>
                      <a:tailEnd type="none" w="med" len="med"/>
                    </a:lnR>
                    <a:lnT w="12700" cap="flat" cmpd="sng" algn="ctr">
                      <a:solidFill>
                        <a:srgbClr val="C1B9A8"/>
                      </a:solidFill>
                      <a:prstDash val="solid"/>
                      <a:round/>
                      <a:headEnd type="none" w="med" len="med"/>
                      <a:tailEnd type="none" w="med" len="med"/>
                    </a:lnT>
                    <a:lnB w="12700" cap="flat" cmpd="sng" algn="ctr">
                      <a:solidFill>
                        <a:srgbClr val="C9C5BC"/>
                      </a:solidFill>
                      <a:prstDash val="solid"/>
                      <a:round/>
                      <a:headEnd type="none" w="med" len="med"/>
                      <a:tailEnd type="none" w="med" len="med"/>
                    </a:lnB>
                    <a:solidFill>
                      <a:srgbClr val="FCF7EC"/>
                    </a:solidFill>
                  </a:tcPr>
                </a:tc>
                <a:tc>
                  <a:txBody>
                    <a:bodyPr/>
                    <a:lstStyle/>
                    <a:p>
                      <a:pPr marL="0" indent="0">
                        <a:lnSpc>
                          <a:spcPts val="1890"/>
                        </a:lnSpc>
                        <a:buNone/>
                      </a:pPr>
                      <a:r>
                        <a:rPr lang="en-US" sz="1350" dirty="0">
                          <a:solidFill>
                            <a:srgbClr val="3A2412"/>
                          </a:solidFill>
                          <a:latin typeface="Arial" pitchFamily="34" charset="0"/>
                          <a:ea typeface="Arial" pitchFamily="34" charset="-122"/>
                          <a:cs typeface="Arial" pitchFamily="34" charset="-120"/>
                        </a:rPr>
                        <a:t>Exporters, certifiers</a:t>
                      </a:r>
                      <a:endParaRPr lang="en-US" sz="1350" dirty="0">
                        <a:latin typeface="Arial" charset="0"/>
                        <a:ea typeface="Arial" charset="0"/>
                        <a:cs typeface="Arial" charset="0"/>
                      </a:endParaRPr>
                    </a:p>
                  </a:txBody>
                  <a:tcPr marL="60007" marR="60007" marT="60007" marB="60007">
                    <a:lnL w="12700" cap="flat" cmpd="sng" algn="ctr">
                      <a:solidFill>
                        <a:srgbClr val="C9C5BC"/>
                      </a:solidFill>
                      <a:prstDash val="solid"/>
                      <a:round/>
                      <a:headEnd type="none" w="med" len="med"/>
                      <a:tailEnd type="none" w="med" len="med"/>
                    </a:lnL>
                    <a:lnR w="12700" cap="flat" cmpd="sng" algn="ctr">
                      <a:solidFill>
                        <a:srgbClr val="C9C5BC"/>
                      </a:solidFill>
                      <a:prstDash val="solid"/>
                      <a:round/>
                      <a:headEnd type="none" w="med" len="med"/>
                      <a:tailEnd type="none" w="med" len="med"/>
                    </a:lnR>
                    <a:lnT w="12700" cap="flat" cmpd="sng" algn="ctr">
                      <a:solidFill>
                        <a:srgbClr val="C1B9A8"/>
                      </a:solidFill>
                      <a:prstDash val="solid"/>
                      <a:round/>
                      <a:headEnd type="none" w="med" len="med"/>
                      <a:tailEnd type="none" w="med" len="med"/>
                    </a:lnT>
                    <a:lnB w="12700" cap="flat" cmpd="sng" algn="ctr">
                      <a:solidFill>
                        <a:srgbClr val="C9C5BC"/>
                      </a:solidFill>
                      <a:prstDash val="solid"/>
                      <a:round/>
                      <a:headEnd type="none" w="med" len="med"/>
                      <a:tailEnd type="none" w="med" len="med"/>
                    </a:lnB>
                    <a:solidFill>
                      <a:srgbClr val="FCF7EC"/>
                    </a:solidFill>
                  </a:tcPr>
                </a:tc>
                <a:tc>
                  <a:txBody>
                    <a:bodyPr/>
                    <a:lstStyle/>
                    <a:p>
                      <a:pPr marL="0" indent="0">
                        <a:lnSpc>
                          <a:spcPts val="1890"/>
                        </a:lnSpc>
                        <a:buNone/>
                      </a:pPr>
                      <a:r>
                        <a:rPr lang="en-US" sz="1350" dirty="0">
                          <a:solidFill>
                            <a:srgbClr val="3A2412"/>
                          </a:solidFill>
                          <a:latin typeface="Arial" pitchFamily="34" charset="0"/>
                          <a:ea typeface="Arial" pitchFamily="34" charset="-122"/>
                          <a:cs typeface="Arial" pitchFamily="34" charset="-120"/>
                        </a:rPr>
                        <a:t>All three methods combined</a:t>
                      </a:r>
                      <a:endParaRPr lang="en-US" sz="1350" dirty="0">
                        <a:latin typeface="Arial" charset="0"/>
                        <a:ea typeface="Arial" charset="0"/>
                        <a:cs typeface="Arial" charset="0"/>
                      </a:endParaRPr>
                    </a:p>
                  </a:txBody>
                  <a:tcPr marL="60007" marR="60007" marT="60007" marB="60007">
                    <a:lnL w="12700" cap="flat" cmpd="sng" algn="ctr">
                      <a:solidFill>
                        <a:srgbClr val="C9C5BC"/>
                      </a:solidFill>
                      <a:prstDash val="solid"/>
                      <a:round/>
                      <a:headEnd type="none" w="med" len="med"/>
                      <a:tailEnd type="none" w="med" len="med"/>
                    </a:lnL>
                    <a:lnR w="12700" cap="flat" cmpd="sng" algn="ctr">
                      <a:solidFill>
                        <a:srgbClr val="C9C5BC"/>
                      </a:solidFill>
                      <a:prstDash val="solid"/>
                      <a:round/>
                      <a:headEnd type="none" w="med" len="med"/>
                      <a:tailEnd type="none" w="med" len="med"/>
                    </a:lnR>
                    <a:lnT w="12700" cap="flat" cmpd="sng" algn="ctr">
                      <a:solidFill>
                        <a:srgbClr val="C1B9A8"/>
                      </a:solidFill>
                      <a:prstDash val="solid"/>
                      <a:round/>
                      <a:headEnd type="none" w="med" len="med"/>
                      <a:tailEnd type="none" w="med" len="med"/>
                    </a:lnT>
                    <a:lnB w="12700" cap="flat" cmpd="sng" algn="ctr">
                      <a:solidFill>
                        <a:srgbClr val="C9C5BC"/>
                      </a:solidFill>
                      <a:prstDash val="solid"/>
                      <a:round/>
                      <a:headEnd type="none" w="med" len="med"/>
                      <a:tailEnd type="none" w="med" len="med"/>
                    </a:lnB>
                    <a:solidFill>
                      <a:srgbClr val="FCF7EC"/>
                    </a:solidFill>
                  </a:tcPr>
                </a:tc>
                <a:extLst>
                  <a:ext uri="{0D108BD9-81ED-4DB2-BD59-A6C34878D82A}">
                    <a16:rowId xmlns:a16="http://schemas.microsoft.com/office/drawing/2014/main" val="10003"/>
                  </a:ext>
                </a:extLst>
              </a:tr>
            </a:tbl>
          </a:graphicData>
        </a:graphic>
      </p:graphicFrame>
      <p:sp>
        <p:nvSpPr>
          <p:cNvPr id="5" name="Shape 2"/>
          <p:cNvSpPr/>
          <p:nvPr/>
        </p:nvSpPr>
        <p:spPr>
          <a:xfrm>
            <a:off x="815975" y="3537589"/>
            <a:ext cx="10560050" cy="882650"/>
          </a:xfrm>
          <a:prstGeom prst="roundRect">
            <a:avLst>
              <a:gd name="adj" fmla="val 12590"/>
            </a:avLst>
          </a:prstGeom>
          <a:solidFill>
            <a:srgbClr val="FCF7EC"/>
          </a:solidFill>
          <a:ln w="6350">
            <a:solidFill>
              <a:srgbClr val="E4D6BC"/>
            </a:solidFill>
            <a:prstDash val="solid"/>
          </a:ln>
        </p:spPr>
        <p:txBody>
          <a:bodyPr/>
          <a:lstStyle/>
          <a:p>
            <a:endParaRPr lang="en-US"/>
          </a:p>
        </p:txBody>
      </p:sp>
      <p:pic>
        <p:nvPicPr>
          <p:cNvPr id="6" name="Image 0" descr="Star"/>
          <p:cNvPicPr>
            <a:picLocks noChangeAspect="1"/>
          </p:cNvPicPr>
          <p:nvPr/>
        </p:nvPicPr>
        <p:blipFill>
          <a:blip r:embed="rId3"/>
          <a:srcRect/>
          <a:stretch/>
        </p:blipFill>
        <p:spPr>
          <a:xfrm>
            <a:off x="1046480" y="3826514"/>
            <a:ext cx="304800" cy="304800"/>
          </a:xfrm>
          <a:prstGeom prst="rect">
            <a:avLst/>
          </a:prstGeom>
        </p:spPr>
      </p:pic>
      <p:sp>
        <p:nvSpPr>
          <p:cNvPr id="7" name="Text 3"/>
          <p:cNvSpPr/>
          <p:nvPr/>
        </p:nvSpPr>
        <p:spPr>
          <a:xfrm>
            <a:off x="1503680" y="3729992"/>
            <a:ext cx="993109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2412"/>
                </a:solidFill>
                <a:latin typeface="Arial" pitchFamily="34" charset="0"/>
                <a:ea typeface="Arial" pitchFamily="34" charset="-122"/>
                <a:cs typeface="Arial" pitchFamily="34" charset="-120"/>
              </a:rPr>
              <a:t>Main question answered: </a:t>
            </a:r>
            <a:r>
              <a:rPr lang="en-US" sz="1400" b="1" dirty="0">
                <a:solidFill>
                  <a:srgbClr val="3A2412"/>
                </a:solidFill>
                <a:latin typeface="Arial" pitchFamily="34" charset="0"/>
                <a:ea typeface="Arial" pitchFamily="34" charset="-122"/>
                <a:cs typeface="Arial" pitchFamily="34" charset="-120"/>
              </a:rPr>
              <a:t>what is the cheapest method that is accurate enough for each user?</a:t>
            </a:r>
            <a:r>
              <a:rPr lang="en-US" sz="1400" dirty="0">
                <a:solidFill>
                  <a:srgbClr val="3A2412"/>
                </a:solidFill>
                <a:latin typeface="Arial" pitchFamily="34" charset="0"/>
                <a:ea typeface="Arial" pitchFamily="34" charset="-122"/>
                <a:cs typeface="Arial" pitchFamily="34" charset="-120"/>
              </a:rPr>
              <a:t> Plus the first open kithul dataset.</a:t>
            </a:r>
            <a:endParaRPr lang="en-US" sz="1400" dirty="0"/>
          </a:p>
        </p:txBody>
      </p:sp>
      <p:sp>
        <p:nvSpPr>
          <p:cNvPr id="8" name="Text 4"/>
          <p:cNvSpPr/>
          <p:nvPr/>
        </p:nvSpPr>
        <p:spPr>
          <a:xfrm>
            <a:off x="812800" y="4677414"/>
            <a:ext cx="10883392" cy="247650"/>
          </a:xfrm>
          <a:prstGeom prst="rect">
            <a:avLst/>
          </a:prstGeom>
          <a:noFill/>
          <a:ln/>
        </p:spPr>
        <p:txBody>
          <a:bodyPr wrap="square" lIns="0" tIns="0" rIns="0" bIns="0" rtlCol="0" anchor="t">
            <a:normAutofit/>
          </a:bodyPr>
          <a:lstStyle/>
          <a:p>
            <a:pPr marL="0" indent="0" algn="l">
              <a:lnSpc>
                <a:spcPts val="1750"/>
              </a:lnSpc>
              <a:buNone/>
            </a:pPr>
            <a:r>
              <a:rPr lang="en-US" sz="1250" b="1" dirty="0">
                <a:solidFill>
                  <a:srgbClr val="6E5636"/>
                </a:solidFill>
                <a:latin typeface="Arial" pitchFamily="34" charset="0"/>
                <a:ea typeface="Arial" pitchFamily="34" charset="-122"/>
                <a:cs typeface="Arial" pitchFamily="34" charset="-120"/>
              </a:rPr>
              <a:t>Future work:</a:t>
            </a:r>
            <a:r>
              <a:rPr lang="en-US" sz="1250" dirty="0">
                <a:solidFill>
                  <a:srgbClr val="6E5636"/>
                </a:solidFill>
                <a:latin typeface="Arial" pitchFamily="34" charset="0"/>
                <a:ea typeface="Arial" pitchFamily="34" charset="-122"/>
                <a:cs typeface="Arial" pitchFamily="34" charset="-120"/>
              </a:rPr>
              <a:t> an assistant to help tappers make better treacle, and a QR code to trace each bottle.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A1A0C"/>
        </a:solidFill>
        <a:effectLst/>
      </p:bgPr>
    </p:bg>
    <p:spTree>
      <p:nvGrpSpPr>
        <p:cNvPr id="1" name=""/>
        <p:cNvGrpSpPr/>
        <p:nvPr/>
      </p:nvGrpSpPr>
      <p:grpSpPr>
        <a:xfrm>
          <a:off x="0" y="0"/>
          <a:ext cx="0" cy="0"/>
          <a:chOff x="0" y="0"/>
          <a:chExt cx="0" cy="0"/>
        </a:xfrm>
      </p:grpSpPr>
      <p:pic>
        <p:nvPicPr>
          <p:cNvPr id="2" name="Image 0" descr="Drop of treacle"/>
          <p:cNvPicPr>
            <a:picLocks noChangeAspect="1"/>
          </p:cNvPicPr>
          <p:nvPr/>
        </p:nvPicPr>
        <p:blipFill>
          <a:blip r:embed="rId3"/>
          <a:srcRect/>
          <a:stretch/>
        </p:blipFill>
        <p:spPr>
          <a:xfrm>
            <a:off x="8636000" y="1905000"/>
            <a:ext cx="2667000" cy="3048000"/>
          </a:xfrm>
          <a:prstGeom prst="rect">
            <a:avLst/>
          </a:prstGeom>
        </p:spPr>
      </p:pic>
      <p:sp>
        <p:nvSpPr>
          <p:cNvPr id="3" name="Text 0"/>
          <p:cNvSpPr/>
          <p:nvPr/>
        </p:nvSpPr>
        <p:spPr>
          <a:xfrm>
            <a:off x="812800" y="2296796"/>
            <a:ext cx="5886450"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E0A64B"/>
                </a:solidFill>
                <a:latin typeface="Arial" pitchFamily="34" charset="0"/>
                <a:ea typeface="Arial" pitchFamily="34" charset="-122"/>
                <a:cs typeface="Arial" pitchFamily="34" charset="-120"/>
              </a:rPr>
              <a:t>THANK YOU</a:t>
            </a:r>
            <a:endParaRPr lang="en-US" sz="1200" dirty="0"/>
          </a:p>
        </p:txBody>
      </p:sp>
      <p:sp>
        <p:nvSpPr>
          <p:cNvPr id="4" name="Text 1"/>
          <p:cNvSpPr>
            <a:spLocks noGrp="1"/>
          </p:cNvSpPr>
          <p:nvPr>
            <p:ph type="title"/>
          </p:nvPr>
        </p:nvSpPr>
        <p:spPr>
          <a:xfrm>
            <a:off x="812800" y="2738754"/>
            <a:ext cx="7823200" cy="638810"/>
          </a:xfrm>
          <a:prstGeom prst="rect">
            <a:avLst/>
          </a:prstGeom>
          <a:noFill/>
          <a:ln/>
        </p:spPr>
        <p:txBody>
          <a:bodyPr wrap="square" lIns="0" tIns="0" rIns="0" bIns="0" rtlCol="0" anchor="t">
            <a:normAutofit/>
          </a:bodyPr>
          <a:lstStyle/>
          <a:p>
            <a:pPr marL="0" indent="0" algn="l">
              <a:lnSpc>
                <a:spcPts val="4830"/>
              </a:lnSpc>
              <a:buNone/>
            </a:pPr>
            <a:r>
              <a:rPr lang="en-US" sz="4600" b="1" i="0" dirty="0">
                <a:solidFill>
                  <a:srgbClr val="F6EFE1"/>
                </a:solidFill>
                <a:latin typeface="Georgia" pitchFamily="18" charset="0"/>
                <a:ea typeface="Georgia" pitchFamily="18" charset="-122"/>
                <a:cs typeface="Georgia" pitchFamily="18" charset="-120"/>
              </a:rPr>
              <a:t>Questions &amp; feedback</a:t>
            </a:r>
            <a:endParaRPr lang="en-US" sz="4600" dirty="0"/>
          </a:p>
        </p:txBody>
      </p:sp>
      <p:sp>
        <p:nvSpPr>
          <p:cNvPr id="5" name="Shape 2"/>
          <p:cNvSpPr/>
          <p:nvPr/>
        </p:nvSpPr>
        <p:spPr>
          <a:xfrm>
            <a:off x="812800" y="3580767"/>
            <a:ext cx="762000" cy="25400"/>
          </a:xfrm>
          <a:prstGeom prst="rect">
            <a:avLst/>
          </a:prstGeom>
          <a:solidFill>
            <a:srgbClr val="E0A64B"/>
          </a:solidFill>
          <a:ln/>
        </p:spPr>
        <p:txBody>
          <a:bodyPr/>
          <a:lstStyle/>
          <a:p>
            <a:endParaRPr lang="en-US"/>
          </a:p>
        </p:txBody>
      </p:sp>
      <p:sp>
        <p:nvSpPr>
          <p:cNvPr id="6" name="Text 3"/>
          <p:cNvSpPr/>
          <p:nvPr/>
        </p:nvSpPr>
        <p:spPr>
          <a:xfrm>
            <a:off x="812800" y="3834767"/>
            <a:ext cx="65405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9C6A8"/>
                </a:solidFill>
                <a:latin typeface="Arial" pitchFamily="34" charset="0"/>
                <a:ea typeface="Arial" pitchFamily="34" charset="-122"/>
                <a:cs typeface="Arial" pitchFamily="34" charset="-120"/>
              </a:rPr>
              <a:t>Next step: find a food lab partner and collect the first pure samples.</a:t>
            </a:r>
            <a:endParaRPr lang="en-US" sz="1500" dirty="0"/>
          </a:p>
        </p:txBody>
      </p:sp>
      <p:sp>
        <p:nvSpPr>
          <p:cNvPr id="7" name="Text 4"/>
          <p:cNvSpPr/>
          <p:nvPr/>
        </p:nvSpPr>
        <p:spPr>
          <a:xfrm>
            <a:off x="812800" y="4330067"/>
            <a:ext cx="627888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9C6A8"/>
                </a:solidFill>
                <a:latin typeface="Arial" pitchFamily="34" charset="0"/>
                <a:ea typeface="Arial" pitchFamily="34" charset="-122"/>
                <a:cs typeface="Arial" pitchFamily="34" charset="-120"/>
              </a:rPr>
              <a:t>[Member 1] · [Member 2] · [Member 3]  ·  [email]</a:t>
            </a:r>
            <a:endParaRPr lang="en-US" sz="1300" dirty="0"/>
          </a:p>
        </p:txBody>
      </p:sp>
    </p:spTree>
  </p:cSld>
  <p:clrMapOvr>
    <a:masterClrMapping/>
  </p:clrMapOvr>
</p:sld>
</file>

<file path=ppt/theme/theme1.xml><?xml version="1.0" encoding="utf-8"?>
<a:theme xmlns:a="http://schemas.openxmlformats.org/drawingml/2006/main" name="Kithul Treacle Proposal">
  <a:themeElements>
    <a:clrScheme name="Kithul Treacle Proposal">
      <a:dk1>
        <a:srgbClr val="3A2412"/>
      </a:dk1>
      <a:lt1>
        <a:srgbClr val="F6EFE1"/>
      </a:lt1>
      <a:dk2>
        <a:srgbClr val="695746"/>
      </a:dk2>
      <a:lt2>
        <a:srgbClr val="E3DBCC"/>
      </a:lt2>
      <a:accent1>
        <a:srgbClr val="8A4A12"/>
      </a:accent1>
      <a:accent2>
        <a:srgbClr val="9A5A16"/>
      </a:accent2>
      <a:accent3>
        <a:srgbClr val="D9C6A8"/>
      </a:accent3>
      <a:accent4>
        <a:srgbClr val="E0A64B"/>
      </a:accent4>
      <a:accent5>
        <a:srgbClr val="4E7A4A"/>
      </a:accent5>
      <a:accent6>
        <a:srgbClr val="6E5636"/>
      </a:accent6>
      <a:hlink>
        <a:srgbClr val="0563C1"/>
      </a:hlink>
      <a:folHlink>
        <a:srgbClr val="954F72"/>
      </a:folHlink>
    </a:clrScheme>
    <a:fontScheme name="Kithul Treacle Proposal">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TotalTime>
  <Words>1630</Words>
  <Application>Microsoft Office PowerPoint</Application>
  <PresentationFormat>Widescreen</PresentationFormat>
  <Paragraphs>170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Georgia</vt:lpstr>
      <vt:lpstr>Kithul Treacle Proposal</vt:lpstr>
      <vt:lpstr>Is this kithul treacle real?</vt:lpstr>
      <vt:lpstr>A world-heritage sweetener, often faked</vt:lpstr>
      <vt:lpstr>Who the fakes hurt</vt:lpstr>
      <vt:lpstr>PowerPoint Presentation</vt:lpstr>
      <vt:lpstr>What others have done</vt:lpstr>
      <vt:lpstr>The empty space we fill</vt:lpstr>
      <vt:lpstr>Three cheap ways to spot a fake, then combine them</vt:lpstr>
      <vt:lpstr>We build our own — no dataset exists</vt:lpstr>
      <vt:lpstr>One method each, tested on the same samples</vt:lpstr>
      <vt:lpstr>Can a smartphone catch a fake?</vt:lpstr>
      <vt:lpstr>Can a cheap gadget match a lab?</vt:lpstr>
      <vt:lpstr>Heat patterns, and joining it all</vt:lpstr>
      <vt:lpstr>The right test for each user</vt:lpstr>
      <vt:lpstr>Questions &amp;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Kithul Treacle Proposal</dc:title>
  <dc:subject/>
  <dc:creator/>
  <cp:lastModifiedBy>Nimansala Bandara</cp:lastModifiedBy>
  <cp:revision>2</cp:revision>
  <dcterms:created xsi:type="dcterms:W3CDTF">2026-10-28T16:38:27Z</dcterms:created>
  <dcterms:modified xsi:type="dcterms:W3CDTF">2026-10-28T20:18:32Z</dcterms:modified>
</cp:coreProperties>
</file>